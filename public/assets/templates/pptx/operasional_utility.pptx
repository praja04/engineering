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tags/tag21.xml" ContentType="application/vnd.openxmlformats-officedocument.presentationml.tags+xml"/>
  <Override PartName="/ppt/notesSlides/notesSlide13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notesSlides/notesSlide15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6.xml" ContentType="application/vnd.openxmlformats-officedocument.presentationml.notesSlid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7.xml" ContentType="application/vnd.openxmlformats-officedocument.presentationml.notesSlid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7" r:id="rId2"/>
    <p:sldId id="770" r:id="rId3"/>
    <p:sldId id="771" r:id="rId4"/>
    <p:sldId id="772" r:id="rId5"/>
    <p:sldId id="773" r:id="rId6"/>
    <p:sldId id="774" r:id="rId7"/>
    <p:sldId id="765" r:id="rId8"/>
    <p:sldId id="766" r:id="rId9"/>
    <p:sldId id="768" r:id="rId10"/>
    <p:sldId id="767" r:id="rId11"/>
    <p:sldId id="769" r:id="rId12"/>
    <p:sldId id="775" r:id="rId13"/>
    <p:sldId id="776" r:id="rId14"/>
    <p:sldId id="777" r:id="rId15"/>
    <p:sldId id="778" r:id="rId16"/>
    <p:sldId id="779" r:id="rId17"/>
    <p:sldId id="780" r:id="rId18"/>
    <p:sldId id="781" r:id="rId19"/>
    <p:sldId id="782" r:id="rId20"/>
    <p:sldId id="783" r:id="rId21"/>
    <p:sldId id="784" r:id="rId22"/>
    <p:sldId id="78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/>
  <p:cmAuthor id="2" name="Marcos" initials="M" lastIdx="0" clrIdx="1"/>
  <p:cmAuthor id="3" name="Miko" initials="M" lastIdx="0" clrIdx="2"/>
  <p:cmAuthor id="4" name="Dyatmiko Tri Kadhono" initials="DT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1C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>
        <p:scale>
          <a:sx n="75" d="100"/>
          <a:sy n="75" d="100"/>
        </p:scale>
        <p:origin x="284" y="-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1.11.66\d\Data\Download%20dan%204share\Reja%20Firmansyah\03.Profil%20ENG\KPI\2026\Rekap%20SMKP%202026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1.11.66\d\Data\Download%20dan%204share\Reja%20Firmansyah\03.Profil%20ENG\KPI\2026\Rekap%20SMKP%202026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1.11.66\d\Data\Download%20dan%204share\Reja%20Firmansyah\03.Profil%20ENG\KPI\2026\Rekap%20SMKP%202026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1.11.66\d\Data\Download%20dan%204share\Reja%20Firmansyah\03.Profil%20ENG\KPI\2026\Rekap%20SMKP%202026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1.11.66\d\Data\Download%20dan%204share\Reja%20Firmansyah\03.Profil%20ENG\KPI\2026\Rekap%20SMKP%202026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Y:\OPERASIONAL\BOILER\2026\BOILER%202026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Y:\OPERASIONAL\BOILER\2026\BOILER%202026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1.11.66\Download%20dan%204share\Miftah%20Hasan%20Fuadi\Weekly%20Maintenance%202026\Resume%20Maintenace%202026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1.11.66\Download%20dan%204share\Miftah%20Hasan%20Fuadi\Weekly%20Maintenance%202026\Resume%20Maintenace%202026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1.11.66\Download%20dan%204share\Miftah%20Hasan%20Fuadi\Weekly%20Maintenance%202026\Resume%20Maintenace%202026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1.11.66\Download%20dan%204share\Miftah%20Hasan%20Fuadi\Weekly%20Maintenance%202026\Resume%20Maintenace%202026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1.11.66\Download%20dan%204share\Miftah%20Hasan%20Fuadi\Weekly%20Maintenance%202026\Resume%20Maintenace%202026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1.11.66\Download%20dan%204share\Miftah%20Hasan%20Fuadi\Weekly%20Maintenance%202026\Resume%20Maintenace%202026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file:///\\10.11.11.66\d\Data\Download%20dan%204share\Reja%20Firmansyah\03.Profil%20ENG\KPI\2026\Rekap%20SMKP%202026.xlsx" TargetMode="External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Ketepatan jadwal Preventive Maintenance (terkait utility) vs aktual realisasi (95%)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'[Rekap SMKP 2026.xlsx]SMKP'!$B$5</c:f>
              <c:strCache>
                <c:ptCount val="1"/>
                <c:pt idx="0">
                  <c:v>Realisasi</c:v>
                </c:pt>
              </c:strCache>
            </c:strRef>
          </c:tx>
          <c:spPr>
            <a:gradFill>
              <a:gsLst>
                <a:gs pos="0">
                  <a:schemeClr val="accent1">
                    <a:hueOff val="-1670000"/>
                  </a:schemeClr>
                </a:gs>
                <a:gs pos="100000">
                  <a:schemeClr val="accent1"/>
                </a:gs>
              </a:gsLst>
              <a:lin ang="5400000" scaled="0"/>
            </a:gradFill>
            <a:ln>
              <a:gradFill>
                <a:gsLst>
                  <a:gs pos="0">
                    <a:schemeClr val="accent1">
                      <a:lumMod val="75000"/>
                      <a:hueOff val="-167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160000" scaled="1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'[Rekap SMKP 2026.xlsx]SMKP'!$D$5:$O$5</c:f>
              <c:numCache>
                <c:formatCode>0%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0.96</c:v>
                </c:pt>
                <c:pt idx="4">
                  <c:v>0.96</c:v>
                </c:pt>
                <c:pt idx="5">
                  <c:v>0.99</c:v>
                </c:pt>
                <c:pt idx="6">
                  <c:v>0.99</c:v>
                </c:pt>
                <c:pt idx="7">
                  <c:v>0.96</c:v>
                </c:pt>
                <c:pt idx="8">
                  <c:v>0.99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FD-4FEA-96AE-9D8CEE4AB3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203701961"/>
        <c:axId val="26427322"/>
      </c:barChart>
      <c:lineChart>
        <c:grouping val="standard"/>
        <c:varyColors val="0"/>
        <c:ser>
          <c:idx val="1"/>
          <c:order val="1"/>
          <c:tx>
            <c:strRef>
              <c:f>'[Rekap SMKP 2026.xlsx]SMKP'!$B$6</c:f>
              <c:strCache>
                <c:ptCount val="1"/>
                <c:pt idx="0">
                  <c:v>Target Min</c:v>
                </c:pt>
              </c:strCache>
            </c:strRef>
          </c:tx>
          <c:spPr>
            <a:ln w="28575" cap="rnd">
              <a:gradFill>
                <a:gsLst>
                  <a:gs pos="0">
                    <a:schemeClr val="accent2">
                      <a:hueOff val="-1670000"/>
                    </a:schemeClr>
                  </a:gs>
                  <a:gs pos="100000">
                    <a:schemeClr val="accent2"/>
                  </a:gs>
                </a:gsLst>
                <a:lin ang="5160000" scaled="1"/>
              </a:gradFill>
              <a:round/>
            </a:ln>
            <a:effectLst/>
          </c:spPr>
          <c:marker>
            <c:symbol val="none"/>
          </c:marker>
          <c:dLbls>
            <c:delete val="1"/>
          </c:dLbls>
          <c:val>
            <c:numRef>
              <c:f>'[Rekap SMKP 2026.xlsx]SMKP'!$D$6:$O$6</c:f>
              <c:numCache>
                <c:formatCode>0%</c:formatCode>
                <c:ptCount val="12"/>
                <c:pt idx="0">
                  <c:v>0.95</c:v>
                </c:pt>
                <c:pt idx="1">
                  <c:v>0.95</c:v>
                </c:pt>
                <c:pt idx="2">
                  <c:v>0.95</c:v>
                </c:pt>
                <c:pt idx="3">
                  <c:v>0.95</c:v>
                </c:pt>
                <c:pt idx="4">
                  <c:v>0.95</c:v>
                </c:pt>
                <c:pt idx="5">
                  <c:v>0.95</c:v>
                </c:pt>
                <c:pt idx="6">
                  <c:v>0.95</c:v>
                </c:pt>
                <c:pt idx="7">
                  <c:v>0.95</c:v>
                </c:pt>
                <c:pt idx="8">
                  <c:v>0.95</c:v>
                </c:pt>
                <c:pt idx="9">
                  <c:v>0.95</c:v>
                </c:pt>
                <c:pt idx="10">
                  <c:v>0.95</c:v>
                </c:pt>
                <c:pt idx="11">
                  <c:v>0.95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FD-4FEA-96AE-9D8CEE4AB3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3701961"/>
        <c:axId val="26427322"/>
      </c:lineChart>
      <c:catAx>
        <c:axId val="203701961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427322"/>
        <c:crosses val="autoZero"/>
        <c:auto val="1"/>
        <c:lblAlgn val="ctr"/>
        <c:lblOffset val="100"/>
        <c:noMultiLvlLbl val="0"/>
      </c:catAx>
      <c:valAx>
        <c:axId val="26427322"/>
        <c:scaling>
          <c:orientation val="minMax"/>
          <c:max val="1"/>
          <c:min val="0.1"/>
        </c:scaling>
        <c:delete val="1"/>
        <c:axPos val="l"/>
        <c:numFmt formatCode="0%" sourceLinked="1"/>
        <c:majorTickMark val="out"/>
        <c:minorTickMark val="none"/>
        <c:tickLblPos val="nextTo"/>
        <c:crossAx val="20370196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a937bde-fa3b-42a6-aa0d-7c089b5a193f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Efisiensi penggunaan Energy Listrik (75 kWh / ton kecap matang)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'[Rekap SMKP 2026.xlsx]SMKP'!$B$10</c:f>
              <c:strCache>
                <c:ptCount val="1"/>
                <c:pt idx="0">
                  <c:v>Realisasi</c:v>
                </c:pt>
              </c:strCache>
            </c:strRef>
          </c:tx>
          <c:spPr>
            <a:gradFill>
              <a:gsLst>
                <a:gs pos="0">
                  <a:schemeClr val="accent1">
                    <a:hueOff val="-1670000"/>
                  </a:schemeClr>
                </a:gs>
                <a:gs pos="100000">
                  <a:schemeClr val="accent1"/>
                </a:gs>
              </a:gsLst>
              <a:lin ang="5400000" scaled="0"/>
            </a:gradFill>
            <a:ln>
              <a:gradFill>
                <a:gsLst>
                  <a:gs pos="0">
                    <a:schemeClr val="accent1">
                      <a:lumMod val="75000"/>
                      <a:hueOff val="-167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160000" scaled="1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'[Rekap SMKP 2026.xlsx]SMKP'!$D$10:$O$10</c:f>
              <c:numCache>
                <c:formatCode>General</c:formatCode>
                <c:ptCount val="12"/>
                <c:pt idx="0">
                  <c:v>57</c:v>
                </c:pt>
                <c:pt idx="1">
                  <c:v>69</c:v>
                </c:pt>
                <c:pt idx="2">
                  <c:v>74</c:v>
                </c:pt>
                <c:pt idx="3">
                  <c:v>69</c:v>
                </c:pt>
                <c:pt idx="4">
                  <c:v>67</c:v>
                </c:pt>
                <c:pt idx="5">
                  <c:v>67</c:v>
                </c:pt>
                <c:pt idx="6">
                  <c:v>67</c:v>
                </c:pt>
                <c:pt idx="7">
                  <c:v>66</c:v>
                </c:pt>
                <c:pt idx="8">
                  <c:v>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6F-4C3B-B41B-9D3A4CE9C2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91883781"/>
        <c:axId val="470476989"/>
      </c:barChart>
      <c:lineChart>
        <c:grouping val="standard"/>
        <c:varyColors val="0"/>
        <c:ser>
          <c:idx val="1"/>
          <c:order val="1"/>
          <c:tx>
            <c:strRef>
              <c:f>'[Rekap SMKP 2026.xlsx]SMKP'!$B$11</c:f>
              <c:strCache>
                <c:ptCount val="1"/>
                <c:pt idx="0">
                  <c:v>Target Max</c:v>
                </c:pt>
              </c:strCache>
            </c:strRef>
          </c:tx>
          <c:spPr>
            <a:ln w="28575" cap="rnd">
              <a:gradFill>
                <a:gsLst>
                  <a:gs pos="0">
                    <a:schemeClr val="accent2">
                      <a:hueOff val="-1670000"/>
                    </a:schemeClr>
                  </a:gs>
                  <a:gs pos="100000">
                    <a:schemeClr val="accent2"/>
                  </a:gs>
                </a:gsLst>
                <a:lin ang="5160000" scaled="1"/>
              </a:gradFill>
              <a:round/>
            </a:ln>
            <a:effectLst/>
          </c:spPr>
          <c:marker>
            <c:symbol val="none"/>
          </c:marker>
          <c:dLbls>
            <c:delete val="1"/>
          </c:dLbls>
          <c:val>
            <c:numRef>
              <c:f>'[Rekap SMKP 2026.xlsx]SMKP'!$D$11:$O$11</c:f>
              <c:numCache>
                <c:formatCode>General</c:formatCode>
                <c:ptCount val="12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  <c:pt idx="5">
                  <c:v>75</c:v>
                </c:pt>
                <c:pt idx="6">
                  <c:v>75</c:v>
                </c:pt>
                <c:pt idx="7">
                  <c:v>75</c:v>
                </c:pt>
                <c:pt idx="8">
                  <c:v>75</c:v>
                </c:pt>
                <c:pt idx="9">
                  <c:v>75</c:v>
                </c:pt>
                <c:pt idx="10">
                  <c:v>75</c:v>
                </c:pt>
                <c:pt idx="11">
                  <c:v>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B6F-4C3B-B41B-9D3A4CE9C2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1883781"/>
        <c:axId val="470476989"/>
      </c:lineChart>
      <c:catAx>
        <c:axId val="9188378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0476989"/>
        <c:crosses val="autoZero"/>
        <c:auto val="1"/>
        <c:lblAlgn val="ctr"/>
        <c:lblOffset val="100"/>
        <c:noMultiLvlLbl val="0"/>
      </c:catAx>
      <c:valAx>
        <c:axId val="47047698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188378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b8768d2d-74dd-44f5-bdb0-fe50b300f09d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Efisiensi penggunaan Energy Batubara (66 kg / ton kecap matang)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'[Rekap SMKP 2026.xlsx]SMKP'!$B$12</c:f>
              <c:strCache>
                <c:ptCount val="1"/>
                <c:pt idx="0">
                  <c:v>Realisasi</c:v>
                </c:pt>
              </c:strCache>
            </c:strRef>
          </c:tx>
          <c:spPr>
            <a:gradFill>
              <a:gsLst>
                <a:gs pos="0">
                  <a:schemeClr val="accent1">
                    <a:hueOff val="-1670000"/>
                  </a:schemeClr>
                </a:gs>
                <a:gs pos="100000">
                  <a:schemeClr val="accent1"/>
                </a:gs>
              </a:gsLst>
              <a:lin ang="5400000" scaled="0"/>
            </a:gradFill>
            <a:ln>
              <a:gradFill>
                <a:gsLst>
                  <a:gs pos="0">
                    <a:schemeClr val="accent1">
                      <a:lumMod val="75000"/>
                      <a:hueOff val="-167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160000" scaled="1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'[Rekap SMKP 2026.xlsx]SMKP'!$D$12:$O$12</c:f>
              <c:numCache>
                <c:formatCode>General</c:formatCode>
                <c:ptCount val="12"/>
                <c:pt idx="0">
                  <c:v>52</c:v>
                </c:pt>
                <c:pt idx="1">
                  <c:v>58</c:v>
                </c:pt>
                <c:pt idx="2">
                  <c:v>54</c:v>
                </c:pt>
                <c:pt idx="3">
                  <c:v>58</c:v>
                </c:pt>
                <c:pt idx="4">
                  <c:v>53</c:v>
                </c:pt>
                <c:pt idx="5">
                  <c:v>53</c:v>
                </c:pt>
                <c:pt idx="6">
                  <c:v>53</c:v>
                </c:pt>
                <c:pt idx="7">
                  <c:v>54</c:v>
                </c:pt>
                <c:pt idx="8">
                  <c:v>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18-4C3B-8254-4DFBBDA57F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876172947"/>
        <c:axId val="831994257"/>
      </c:barChart>
      <c:lineChart>
        <c:grouping val="standard"/>
        <c:varyColors val="0"/>
        <c:ser>
          <c:idx val="1"/>
          <c:order val="1"/>
          <c:tx>
            <c:strRef>
              <c:f>'[Rekap SMKP 2026.xlsx]SMKP'!$B$13</c:f>
              <c:strCache>
                <c:ptCount val="1"/>
                <c:pt idx="0">
                  <c:v>Target Max</c:v>
                </c:pt>
              </c:strCache>
            </c:strRef>
          </c:tx>
          <c:spPr>
            <a:ln w="28575" cap="rnd">
              <a:gradFill>
                <a:gsLst>
                  <a:gs pos="0">
                    <a:schemeClr val="accent2">
                      <a:hueOff val="-1670000"/>
                    </a:schemeClr>
                  </a:gs>
                  <a:gs pos="100000">
                    <a:schemeClr val="accent2"/>
                  </a:gs>
                </a:gsLst>
                <a:lin ang="5160000" scaled="1"/>
              </a:gradFill>
              <a:round/>
            </a:ln>
            <a:effectLst/>
          </c:spPr>
          <c:marker>
            <c:symbol val="none"/>
          </c:marker>
          <c:dLbls>
            <c:delete val="1"/>
          </c:dLbls>
          <c:val>
            <c:numRef>
              <c:f>'[Rekap SMKP 2026.xlsx]SMKP'!$D$13:$O$13</c:f>
              <c:numCache>
                <c:formatCode>General</c:formatCode>
                <c:ptCount val="12"/>
                <c:pt idx="0">
                  <c:v>66</c:v>
                </c:pt>
                <c:pt idx="1">
                  <c:v>66</c:v>
                </c:pt>
                <c:pt idx="2">
                  <c:v>66</c:v>
                </c:pt>
                <c:pt idx="3">
                  <c:v>66</c:v>
                </c:pt>
                <c:pt idx="4">
                  <c:v>66</c:v>
                </c:pt>
                <c:pt idx="5">
                  <c:v>66</c:v>
                </c:pt>
                <c:pt idx="6">
                  <c:v>66</c:v>
                </c:pt>
                <c:pt idx="7">
                  <c:v>66</c:v>
                </c:pt>
                <c:pt idx="8">
                  <c:v>66</c:v>
                </c:pt>
                <c:pt idx="9">
                  <c:v>66</c:v>
                </c:pt>
                <c:pt idx="10">
                  <c:v>66</c:v>
                </c:pt>
                <c:pt idx="11">
                  <c:v>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518-4C3B-8254-4DFBBDA57F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876172947"/>
        <c:axId val="831994257"/>
      </c:lineChart>
      <c:catAx>
        <c:axId val="876172947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31994257"/>
        <c:crosses val="autoZero"/>
        <c:auto val="1"/>
        <c:lblAlgn val="ctr"/>
        <c:lblOffset val="100"/>
        <c:noMultiLvlLbl val="0"/>
      </c:catAx>
      <c:valAx>
        <c:axId val="83199425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7617294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5349b7bc-f898-40f0-b574-57487c4a5567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Overtime Utility (Boiler &amp; WWTP) 2.5%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'[Rekap SMKP 2026.xlsx]Internal'!$C$10</c:f>
              <c:strCache>
                <c:ptCount val="1"/>
                <c:pt idx="0">
                  <c:v>Realisasi</c:v>
                </c:pt>
              </c:strCache>
            </c:strRef>
          </c:tx>
          <c:spPr>
            <a:gradFill>
              <a:gsLst>
                <a:gs pos="0">
                  <a:schemeClr val="accent1">
                    <a:hueOff val="-1670000"/>
                  </a:schemeClr>
                </a:gs>
                <a:gs pos="100000">
                  <a:schemeClr val="accent1"/>
                </a:gs>
              </a:gsLst>
              <a:lin ang="5400000" scaled="0"/>
            </a:gradFill>
            <a:ln>
              <a:gradFill>
                <a:gsLst>
                  <a:gs pos="0">
                    <a:schemeClr val="accent1">
                      <a:lumMod val="75000"/>
                      <a:hueOff val="-167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160000" scaled="1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'[Rekap SMKP 2026.xlsx]Internal'!$D$10:$O$10</c:f>
              <c:numCache>
                <c:formatCode>0.00%</c:formatCode>
                <c:ptCount val="12"/>
                <c:pt idx="0">
                  <c:v>3.5999999999999997E-2</c:v>
                </c:pt>
                <c:pt idx="1">
                  <c:v>2.1000000000000001E-2</c:v>
                </c:pt>
                <c:pt idx="2">
                  <c:v>1.2999999999999999E-2</c:v>
                </c:pt>
                <c:pt idx="3">
                  <c:v>3.3000000000000002E-2</c:v>
                </c:pt>
                <c:pt idx="4">
                  <c:v>1.41E-2</c:v>
                </c:pt>
                <c:pt idx="5">
                  <c:v>4.24E-2</c:v>
                </c:pt>
                <c:pt idx="6">
                  <c:v>1.6899999999999998E-2</c:v>
                </c:pt>
                <c:pt idx="7">
                  <c:v>2.7900000000000001E-2</c:v>
                </c:pt>
                <c:pt idx="8">
                  <c:v>1.41E-2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C3-4F08-911E-F37D5B1C07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4123871"/>
        <c:axId val="552452861"/>
      </c:barChart>
      <c:lineChart>
        <c:grouping val="standard"/>
        <c:varyColors val="0"/>
        <c:ser>
          <c:idx val="1"/>
          <c:order val="1"/>
          <c:tx>
            <c:strRef>
              <c:f>'[Rekap SMKP 2026.xlsx]Internal'!$C$11</c:f>
              <c:strCache>
                <c:ptCount val="1"/>
                <c:pt idx="0">
                  <c:v>Target Max</c:v>
                </c:pt>
              </c:strCache>
            </c:strRef>
          </c:tx>
          <c:spPr>
            <a:ln w="28575" cap="rnd">
              <a:gradFill>
                <a:gsLst>
                  <a:gs pos="0">
                    <a:schemeClr val="accent2">
                      <a:hueOff val="-1670000"/>
                    </a:schemeClr>
                  </a:gs>
                  <a:gs pos="100000">
                    <a:schemeClr val="accent2"/>
                  </a:gs>
                </a:gsLst>
                <a:lin ang="5160000" scaled="1"/>
              </a:gradFill>
              <a:round/>
            </a:ln>
            <a:effectLst/>
          </c:spPr>
          <c:marker>
            <c:symbol val="none"/>
          </c:marker>
          <c:dLbls>
            <c:delete val="1"/>
          </c:dLbls>
          <c:val>
            <c:numRef>
              <c:f>'[Rekap SMKP 2026.xlsx]Internal'!$D$11:$O$11</c:f>
              <c:numCache>
                <c:formatCode>0.0%</c:formatCode>
                <c:ptCount val="12"/>
                <c:pt idx="0">
                  <c:v>2.5000000000000001E-2</c:v>
                </c:pt>
                <c:pt idx="1">
                  <c:v>2.5000000000000001E-2</c:v>
                </c:pt>
                <c:pt idx="2">
                  <c:v>2.5000000000000001E-2</c:v>
                </c:pt>
                <c:pt idx="3">
                  <c:v>2.5000000000000001E-2</c:v>
                </c:pt>
                <c:pt idx="4">
                  <c:v>2.5000000000000001E-2</c:v>
                </c:pt>
                <c:pt idx="5">
                  <c:v>2.5000000000000001E-2</c:v>
                </c:pt>
                <c:pt idx="6">
                  <c:v>2.5000000000000001E-2</c:v>
                </c:pt>
                <c:pt idx="7">
                  <c:v>2.5000000000000001E-2</c:v>
                </c:pt>
                <c:pt idx="8">
                  <c:v>2.5000000000000001E-2</c:v>
                </c:pt>
                <c:pt idx="9">
                  <c:v>2.5000000000000001E-2</c:v>
                </c:pt>
                <c:pt idx="10">
                  <c:v>2.5000000000000001E-2</c:v>
                </c:pt>
                <c:pt idx="11">
                  <c:v>2.5000000000000001E-2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1C3-4F08-911E-F37D5B1C07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123871"/>
        <c:axId val="552452861"/>
      </c:lineChart>
      <c:catAx>
        <c:axId val="14123871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2452861"/>
        <c:crosses val="autoZero"/>
        <c:auto val="1"/>
        <c:lblAlgn val="ctr"/>
        <c:lblOffset val="100"/>
        <c:noMultiLvlLbl val="0"/>
      </c:catAx>
      <c:valAx>
        <c:axId val="552452861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141238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2e2bb95-fb4e-4eab-9edc-47651463b961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Cost ENG Utility (Jt)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'[Rekap SMKP 2026.xlsx]Cost Utility'!$A$2</c:f>
              <c:strCache>
                <c:ptCount val="1"/>
                <c:pt idx="0">
                  <c:v>Consumable</c:v>
                </c:pt>
              </c:strCache>
            </c:strRef>
          </c:tx>
          <c:spPr>
            <a:gradFill>
              <a:gsLst>
                <a:gs pos="0">
                  <a:schemeClr val="accent1">
                    <a:hueOff val="-1670000"/>
                  </a:schemeClr>
                </a:gs>
                <a:gs pos="100000">
                  <a:schemeClr val="accent1"/>
                </a:gs>
              </a:gsLst>
              <a:lin ang="5400000" scaled="0"/>
            </a:gradFill>
            <a:ln>
              <a:gradFill>
                <a:gsLst>
                  <a:gs pos="0">
                    <a:schemeClr val="accent1">
                      <a:lumMod val="75000"/>
                      <a:hueOff val="-167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160000" scaled="1"/>
              </a:gradFill>
            </a:ln>
            <a:effectLst/>
          </c:spPr>
          <c:invertIfNegative val="0"/>
          <c:cat>
            <c:strRef>
              <c:f>'[Rekap SMKP 2026.xlsx]Cost Utility'!$B$1:$J$1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'[Rekap SMKP 2026.xlsx]Cost Utility'!$B$2:$J$2</c:f>
              <c:numCache>
                <c:formatCode>_-[$Rp-421]* #,##0_-;\-[$Rp-421]* #,##0_-;_-[$Rp-421]* "-"??_-;_-@_-</c:formatCode>
                <c:ptCount val="9"/>
                <c:pt idx="0">
                  <c:v>97936299.386365801</c:v>
                </c:pt>
                <c:pt idx="1">
                  <c:v>106652557.15311299</c:v>
                </c:pt>
                <c:pt idx="2">
                  <c:v>70966096</c:v>
                </c:pt>
                <c:pt idx="3">
                  <c:v>109436169.666667</c:v>
                </c:pt>
                <c:pt idx="4">
                  <c:v>74260534</c:v>
                </c:pt>
                <c:pt idx="5">
                  <c:v>103521834.18218599</c:v>
                </c:pt>
                <c:pt idx="6">
                  <c:v>130935482.179487</c:v>
                </c:pt>
                <c:pt idx="7">
                  <c:v>146583555.51282099</c:v>
                </c:pt>
                <c:pt idx="8">
                  <c:v>125727207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CE-411E-BB4D-040133E97EBE}"/>
            </c:ext>
          </c:extLst>
        </c:ser>
        <c:ser>
          <c:idx val="1"/>
          <c:order val="1"/>
          <c:tx>
            <c:strRef>
              <c:f>'[Rekap SMKP 2026.xlsx]Cost Utility'!$A$3</c:f>
              <c:strCache>
                <c:ptCount val="1"/>
                <c:pt idx="0">
                  <c:v>Maintenance</c:v>
                </c:pt>
              </c:strCache>
            </c:strRef>
          </c:tx>
          <c:spPr>
            <a:gradFill>
              <a:gsLst>
                <a:gs pos="0">
                  <a:schemeClr val="accent2">
                    <a:hueOff val="-1670000"/>
                  </a:schemeClr>
                </a:gs>
                <a:gs pos="100000">
                  <a:schemeClr val="accent2"/>
                </a:gs>
              </a:gsLst>
              <a:lin ang="5400000" scaled="0"/>
            </a:gradFill>
            <a:ln>
              <a:gradFill>
                <a:gsLst>
                  <a:gs pos="0">
                    <a:schemeClr val="accent2">
                      <a:lumMod val="75000"/>
                      <a:hueOff val="-167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160000" scaled="1"/>
              </a:gradFill>
            </a:ln>
            <a:effectLst/>
          </c:spPr>
          <c:invertIfNegative val="0"/>
          <c:cat>
            <c:strRef>
              <c:f>'[Rekap SMKP 2026.xlsx]Cost Utility'!$B$1:$J$1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'[Rekap SMKP 2026.xlsx]Cost Utility'!$B$3:$J$3</c:f>
              <c:numCache>
                <c:formatCode>_-[$Rp-421]* #,##0_-;\-[$Rp-421]* #,##0_-;_-[$Rp-421]* "-"??_-;_-@_-</c:formatCode>
                <c:ptCount val="9"/>
                <c:pt idx="0">
                  <c:v>59619351</c:v>
                </c:pt>
                <c:pt idx="1">
                  <c:v>53615060</c:v>
                </c:pt>
                <c:pt idx="2">
                  <c:v>51308657</c:v>
                </c:pt>
                <c:pt idx="3">
                  <c:v>65913713.333333299</c:v>
                </c:pt>
                <c:pt idx="4">
                  <c:v>85508441</c:v>
                </c:pt>
                <c:pt idx="5">
                  <c:v>59756252.666666701</c:v>
                </c:pt>
                <c:pt idx="6">
                  <c:v>60958301</c:v>
                </c:pt>
                <c:pt idx="7">
                  <c:v>39634584.333333299</c:v>
                </c:pt>
                <c:pt idx="8">
                  <c:v>38732799.5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BCE-411E-BB4D-040133E97EBE}"/>
            </c:ext>
          </c:extLst>
        </c:ser>
        <c:ser>
          <c:idx val="2"/>
          <c:order val="2"/>
          <c:tx>
            <c:strRef>
              <c:f>'[Rekap SMKP 2026.xlsx]Cost Utility'!$A$4</c:f>
              <c:strCache>
                <c:ptCount val="1"/>
                <c:pt idx="0">
                  <c:v>service maintenance</c:v>
                </c:pt>
              </c:strCache>
            </c:strRef>
          </c:tx>
          <c:spPr>
            <a:gradFill>
              <a:gsLst>
                <a:gs pos="0">
                  <a:schemeClr val="accent3">
                    <a:hueOff val="-1670000"/>
                  </a:schemeClr>
                </a:gs>
                <a:gs pos="100000">
                  <a:schemeClr val="accent3"/>
                </a:gs>
              </a:gsLst>
              <a:lin ang="5400000" scaled="0"/>
            </a:gradFill>
            <a:ln>
              <a:gradFill>
                <a:gsLst>
                  <a:gs pos="0">
                    <a:schemeClr val="accent3">
                      <a:lumMod val="75000"/>
                      <a:hueOff val="-1670000"/>
                    </a:schemeClr>
                  </a:gs>
                  <a:gs pos="100000">
                    <a:schemeClr val="accent3">
                      <a:lumMod val="75000"/>
                    </a:schemeClr>
                  </a:gs>
                </a:gsLst>
                <a:lin ang="5160000" scaled="1"/>
              </a:gradFill>
            </a:ln>
            <a:effectLst/>
          </c:spPr>
          <c:invertIfNegative val="0"/>
          <c:cat>
            <c:strRef>
              <c:f>'[Rekap SMKP 2026.xlsx]Cost Utility'!$B$1:$J$1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'[Rekap SMKP 2026.xlsx]Cost Utility'!$B$4:$J$4</c:f>
              <c:numCache>
                <c:formatCode>General</c:formatCode>
                <c:ptCount val="9"/>
                <c:pt idx="2" formatCode="_-[$Rp-421]* #,##0_-;\-[$Rp-421]* #,##0_-;_-[$Rp-421]* &quot;-&quot;??_-;_-@_-">
                  <c:v>21600000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CE-411E-BB4D-040133E97E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25941692"/>
        <c:axId val="173493078"/>
      </c:barChart>
      <c:lineChart>
        <c:grouping val="standard"/>
        <c:varyColors val="0"/>
        <c:ser>
          <c:idx val="3"/>
          <c:order val="3"/>
          <c:tx>
            <c:strRef>
              <c:f>'[Rekap SMKP 2026.xlsx]Cost Utility'!$A$5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gradFill>
                <a:gsLst>
                  <a:gs pos="0">
                    <a:schemeClr val="accent4">
                      <a:hueOff val="-1670000"/>
                    </a:schemeClr>
                  </a:gs>
                  <a:gs pos="100000">
                    <a:schemeClr val="accent4"/>
                  </a:gs>
                </a:gsLst>
                <a:lin ang="5160000" scaled="1"/>
              </a:gradFill>
              <a:round/>
            </a:ln>
            <a:effectLst/>
          </c:spPr>
          <c:marker>
            <c:symbol val="none"/>
          </c:marker>
          <c:cat>
            <c:strRef>
              <c:f>'[Rekap SMKP 2026.xlsx]Cost Utility'!$B$1:$J$1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'[Rekap SMKP 2026.xlsx]Cost Utility'!$B$5:$J$5</c:f>
              <c:numCache>
                <c:formatCode>_-[$Rp-421]* #,##0_-;\-[$Rp-421]* #,##0_-;_-[$Rp-421]* "-"??_-;_-@_-</c:formatCode>
                <c:ptCount val="9"/>
                <c:pt idx="0">
                  <c:v>157555650.38636601</c:v>
                </c:pt>
                <c:pt idx="1">
                  <c:v>160267617.15311301</c:v>
                </c:pt>
                <c:pt idx="2">
                  <c:v>143874753</c:v>
                </c:pt>
                <c:pt idx="3">
                  <c:v>175349883</c:v>
                </c:pt>
                <c:pt idx="4">
                  <c:v>159768975</c:v>
                </c:pt>
                <c:pt idx="5">
                  <c:v>163278086.84885299</c:v>
                </c:pt>
                <c:pt idx="6">
                  <c:v>191893783.17948699</c:v>
                </c:pt>
                <c:pt idx="7">
                  <c:v>186218139.846154</c:v>
                </c:pt>
                <c:pt idx="8">
                  <c:v>164460006.5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BCE-411E-BB4D-040133E97EBE}"/>
            </c:ext>
          </c:extLst>
        </c:ser>
        <c:ser>
          <c:idx val="4"/>
          <c:order val="4"/>
          <c:tx>
            <c:strRef>
              <c:f>'[Rekap SMKP 2026.xlsx]Cost Utility'!$A$6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'[Rekap SMKP 2026.xlsx]Cost Utility'!$B$1:$J$1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'[Rekap SMKP 2026.xlsx]Cost Utility'!$B$6:$J$6</c:f>
              <c:numCache>
                <c:formatCode>_-[$Rp-421]* #,##0_-;\-[$Rp-421]* #,##0_-;_-[$Rp-421]* "-"??_-;_-@_-</c:formatCode>
                <c:ptCount val="9"/>
                <c:pt idx="0">
                  <c:v>150000000</c:v>
                </c:pt>
                <c:pt idx="1">
                  <c:v>150000000</c:v>
                </c:pt>
                <c:pt idx="2">
                  <c:v>150000000</c:v>
                </c:pt>
                <c:pt idx="3">
                  <c:v>150000000</c:v>
                </c:pt>
                <c:pt idx="4">
                  <c:v>150000000</c:v>
                </c:pt>
                <c:pt idx="5">
                  <c:v>150000000</c:v>
                </c:pt>
                <c:pt idx="6">
                  <c:v>150000000</c:v>
                </c:pt>
                <c:pt idx="7">
                  <c:v>150000000</c:v>
                </c:pt>
                <c:pt idx="8">
                  <c:v>150000000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BCE-411E-BB4D-040133E97E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25941692"/>
        <c:axId val="173493078"/>
      </c:lineChart>
      <c:catAx>
        <c:axId val="52594169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493078"/>
        <c:crosses val="autoZero"/>
        <c:auto val="1"/>
        <c:lblAlgn val="ctr"/>
        <c:lblOffset val="100"/>
        <c:noMultiLvlLbl val="0"/>
      </c:catAx>
      <c:valAx>
        <c:axId val="173493078"/>
        <c:scaling>
          <c:orientation val="minMax"/>
          <c:max val="250000000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_-[$Rp-421]* #,##0_-;\-[$Rp-421]* #,##0_-;_-[$Rp-421]* &quot;-&quot;??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5941692"/>
        <c:crosses val="autoZero"/>
        <c:crossBetween val="between"/>
        <c:minorUnit val="10000000"/>
        <c:dispUnits>
          <c:builtInUnit val="millions"/>
        </c:dispUnits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208b650-f101-414c-a859-60eca3dfb05a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9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900" b="1"/>
              <a:t>Perbandingan % Bottom Ash dan Penggunaan Batubara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9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'[BOILER 2026.xlsx]Sheet3'!$B$2</c:f>
              <c:strCache>
                <c:ptCount val="1"/>
                <c:pt idx="0">
                  <c:v>Tonase Bottom Ash &amp; Fly Ash (Ton)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'[BOILER 2026.xlsx]Sheet3'!$A$3:$A$12</c:f>
              <c:numCache>
                <c:formatCode>mmm\-yy</c:formatCode>
                <c:ptCount val="10"/>
                <c:pt idx="0">
                  <c:v>46023</c:v>
                </c:pt>
                <c:pt idx="1">
                  <c:v>46055</c:v>
                </c:pt>
                <c:pt idx="2">
                  <c:v>46084</c:v>
                </c:pt>
                <c:pt idx="3">
                  <c:v>46116</c:v>
                </c:pt>
                <c:pt idx="4">
                  <c:v>46147</c:v>
                </c:pt>
                <c:pt idx="5">
                  <c:v>46179</c:v>
                </c:pt>
                <c:pt idx="6">
                  <c:v>46210</c:v>
                </c:pt>
                <c:pt idx="7">
                  <c:v>46242</c:v>
                </c:pt>
                <c:pt idx="8">
                  <c:v>46274</c:v>
                </c:pt>
                <c:pt idx="9">
                  <c:v>46305</c:v>
                </c:pt>
              </c:numCache>
            </c:numRef>
          </c:cat>
          <c:val>
            <c:numRef>
              <c:f>'[BOILER 2026.xlsx]Sheet3'!$B$3:$B$12</c:f>
            </c:numRef>
          </c:val>
          <c:extLst>
            <c:ext xmlns:c16="http://schemas.microsoft.com/office/drawing/2014/chart" uri="{C3380CC4-5D6E-409C-BE32-E72D297353CC}">
              <c16:uniqueId val="{00000000-8A97-444E-82DF-EFD12C8EF215}"/>
            </c:ext>
          </c:extLst>
        </c:ser>
        <c:ser>
          <c:idx val="1"/>
          <c:order val="1"/>
          <c:tx>
            <c:strRef>
              <c:f>'[BOILER 2026.xlsx]Sheet3'!$C$2</c:f>
              <c:strCache>
                <c:ptCount val="1"/>
                <c:pt idx="0">
                  <c:v>Tonase Batubara(Ton)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'[BOILER 2026.xlsx]Sheet3'!$A$3:$A$12</c:f>
              <c:numCache>
                <c:formatCode>mmm\-yy</c:formatCode>
                <c:ptCount val="10"/>
                <c:pt idx="0">
                  <c:v>46023</c:v>
                </c:pt>
                <c:pt idx="1">
                  <c:v>46055</c:v>
                </c:pt>
                <c:pt idx="2">
                  <c:v>46084</c:v>
                </c:pt>
                <c:pt idx="3">
                  <c:v>46116</c:v>
                </c:pt>
                <c:pt idx="4">
                  <c:v>46147</c:v>
                </c:pt>
                <c:pt idx="5">
                  <c:v>46179</c:v>
                </c:pt>
                <c:pt idx="6">
                  <c:v>46210</c:v>
                </c:pt>
                <c:pt idx="7">
                  <c:v>46242</c:v>
                </c:pt>
                <c:pt idx="8">
                  <c:v>46274</c:v>
                </c:pt>
                <c:pt idx="9">
                  <c:v>46305</c:v>
                </c:pt>
              </c:numCache>
            </c:numRef>
          </c:cat>
          <c:val>
            <c:numRef>
              <c:f>'[BOILER 2026.xlsx]Sheet3'!$C$3:$C$12</c:f>
            </c:numRef>
          </c:val>
          <c:extLst>
            <c:ext xmlns:c16="http://schemas.microsoft.com/office/drawing/2014/chart" uri="{C3380CC4-5D6E-409C-BE32-E72D297353CC}">
              <c16:uniqueId val="{00000001-8A97-444E-82DF-EFD12C8EF215}"/>
            </c:ext>
          </c:extLst>
        </c:ser>
        <c:ser>
          <c:idx val="2"/>
          <c:order val="2"/>
          <c:tx>
            <c:strRef>
              <c:f>'[BOILER 2026.xlsx]Sheet3'!$D$2</c:f>
              <c:strCache>
                <c:ptCount val="1"/>
                <c:pt idx="0">
                  <c:v>Persentase</c:v>
                </c:pt>
              </c:strCache>
            </c:strRef>
          </c:tx>
          <c:spPr>
            <a:gradFill>
              <a:gsLst>
                <a:gs pos="0">
                  <a:srgbClr val="9EE256"/>
                </a:gs>
                <a:gs pos="100000">
                  <a:srgbClr val="52762D"/>
                </a:gs>
              </a:gsLst>
              <a:lin scaled="0"/>
            </a:gra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spPr>
              <a:solidFill>
                <a:schemeClr val="accent2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A97-444E-82DF-EFD12C8EF21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'[BOILER 2026.xlsx]Sheet3'!$A$3:$A$12</c:f>
              <c:numCache>
                <c:formatCode>mmm\-yy</c:formatCode>
                <c:ptCount val="10"/>
                <c:pt idx="0">
                  <c:v>46023</c:v>
                </c:pt>
                <c:pt idx="1">
                  <c:v>46055</c:v>
                </c:pt>
                <c:pt idx="2">
                  <c:v>46084</c:v>
                </c:pt>
                <c:pt idx="3">
                  <c:v>46116</c:v>
                </c:pt>
                <c:pt idx="4">
                  <c:v>46147</c:v>
                </c:pt>
                <c:pt idx="5">
                  <c:v>46179</c:v>
                </c:pt>
                <c:pt idx="6">
                  <c:v>46210</c:v>
                </c:pt>
                <c:pt idx="7">
                  <c:v>46242</c:v>
                </c:pt>
                <c:pt idx="8">
                  <c:v>46274</c:v>
                </c:pt>
                <c:pt idx="9">
                  <c:v>46305</c:v>
                </c:pt>
              </c:numCache>
            </c:numRef>
          </c:cat>
          <c:val>
            <c:numRef>
              <c:f>'[BOILER 2026.xlsx]Sheet3'!$D$3:$D$12</c:f>
              <c:numCache>
                <c:formatCode>0.00%</c:formatCode>
                <c:ptCount val="10"/>
                <c:pt idx="0">
                  <c:v>0.31210495266455002</c:v>
                </c:pt>
                <c:pt idx="1">
                  <c:v>0.28978553253362399</c:v>
                </c:pt>
                <c:pt idx="2">
                  <c:v>0.28032968621969401</c:v>
                </c:pt>
                <c:pt idx="3">
                  <c:v>0.30664023785926697</c:v>
                </c:pt>
                <c:pt idx="4">
                  <c:v>0.29363529871144101</c:v>
                </c:pt>
                <c:pt idx="5">
                  <c:v>0.25417515274949098</c:v>
                </c:pt>
                <c:pt idx="6">
                  <c:v>0.31596729508750598</c:v>
                </c:pt>
                <c:pt idx="7">
                  <c:v>0.25485723275387401</c:v>
                </c:pt>
                <c:pt idx="8">
                  <c:v>0.33355713710218898</c:v>
                </c:pt>
                <c:pt idx="9">
                  <c:v>0.41890397184514799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97-444E-82DF-EFD12C8EF2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1852597"/>
        <c:axId val="646760641"/>
      </c:barChart>
      <c:dateAx>
        <c:axId val="141852597"/>
        <c:scaling>
          <c:orientation val="minMax"/>
        </c:scaling>
        <c:delete val="0"/>
        <c:axPos val="b"/>
        <c:numFmt formatCode="mmm\-yy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46760641"/>
        <c:crosses val="autoZero"/>
        <c:auto val="1"/>
        <c:lblOffset val="100"/>
        <c:baseTimeUnit val="months"/>
      </c:dateAx>
      <c:valAx>
        <c:axId val="64676064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85259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rtl="0"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9164867-160c-45f8-9fad-0751cf9d6fa1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960"/>
              <a:t>Perbandingan Penggunaan BB Harian  (Ton)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'[BOILER 2026.xlsx]Sheet3'!$A$20:$D$20</c:f>
              <c:strCache>
                <c:ptCount val="2"/>
                <c:pt idx="0">
                  <c:v>Penggunaan BB/Hari sebelum (Ton)</c:v>
                </c:pt>
                <c:pt idx="1">
                  <c:v>Penggunaan BB/Hari  Saat ini (Ton)</c:v>
                </c:pt>
              </c:strCache>
            </c:strRef>
          </c:cat>
          <c:val>
            <c:numRef>
              <c:f>'[BOILER 2026.xlsx]Sheet3'!$A$21:$D$21</c:f>
              <c:numCache>
                <c:formatCode>General</c:formatCode>
                <c:ptCount val="2"/>
                <c:pt idx="0">
                  <c:v>10.9</c:v>
                </c:pt>
                <c:pt idx="1">
                  <c:v>13.5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33-4963-A18A-B9087E8AD9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73450112"/>
        <c:axId val="775257376"/>
      </c:barChart>
      <c:catAx>
        <c:axId val="57345011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5257376"/>
        <c:crosses val="autoZero"/>
        <c:auto val="1"/>
        <c:lblAlgn val="ctr"/>
        <c:lblOffset val="100"/>
        <c:noMultiLvlLbl val="0"/>
      </c:catAx>
      <c:valAx>
        <c:axId val="775257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73450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e8711ce-402b-4c40-bc61-15bfdcac634a}"/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 sz="800"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Schedule Maintenance Per Team Oktober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1"/>
          <c:tx>
            <c:strRef>
              <c:f>'[Resume Maintenace 2026.xlsx]Downtime Oktober'!$R$23</c:f>
              <c:strCache>
                <c:ptCount val="1"/>
                <c:pt idx="0">
                  <c:v>Week 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'[Resume Maintenace 2026.xlsx]Downtime Oktober'!$S$21:$V$21</c:f>
              <c:strCache>
                <c:ptCount val="4"/>
                <c:pt idx="0">
                  <c:v>Otomotif</c:v>
                </c:pt>
                <c:pt idx="1">
                  <c:v>Sipil</c:v>
                </c:pt>
                <c:pt idx="2">
                  <c:v>Motor Pompa </c:v>
                </c:pt>
                <c:pt idx="3">
                  <c:v>Utility</c:v>
                </c:pt>
              </c:strCache>
            </c:strRef>
          </c:cat>
          <c:val>
            <c:numRef>
              <c:f>'[Resume Maintenace 2026.xlsx]Downtime Oktober'!$S$23:$V$23</c:f>
              <c:numCache>
                <c:formatCode>0%</c:formatCode>
                <c:ptCount val="4"/>
                <c:pt idx="0">
                  <c:v>0.17</c:v>
                </c:pt>
                <c:pt idx="1">
                  <c:v>0.09</c:v>
                </c:pt>
                <c:pt idx="2">
                  <c:v>0.08</c:v>
                </c:pt>
                <c:pt idx="3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17-4956-AC66-2DEA61228C2E}"/>
            </c:ext>
          </c:extLst>
        </c:ser>
        <c:ser>
          <c:idx val="3"/>
          <c:order val="2"/>
          <c:tx>
            <c:strRef>
              <c:f>'[Resume Maintenace 2026.xlsx]Downtime Oktober'!$R$24</c:f>
              <c:strCache>
                <c:ptCount val="1"/>
                <c:pt idx="0">
                  <c:v>Week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'[Resume Maintenace 2026.xlsx]Downtime Oktober'!$S$21:$V$21</c:f>
              <c:strCache>
                <c:ptCount val="4"/>
                <c:pt idx="0">
                  <c:v>Otomotif</c:v>
                </c:pt>
                <c:pt idx="1">
                  <c:v>Sipil</c:v>
                </c:pt>
                <c:pt idx="2">
                  <c:v>Motor Pompa </c:v>
                </c:pt>
                <c:pt idx="3">
                  <c:v>Utility</c:v>
                </c:pt>
              </c:strCache>
            </c:strRef>
          </c:cat>
          <c:val>
            <c:numRef>
              <c:f>'[Resume Maintenace 2026.xlsx]Downtime Oktober'!$S$24:$V$24</c:f>
              <c:numCache>
                <c:formatCode>0%</c:formatCode>
                <c:ptCount val="4"/>
                <c:pt idx="0">
                  <c:v>0.46</c:v>
                </c:pt>
                <c:pt idx="1">
                  <c:v>0.3</c:v>
                </c:pt>
                <c:pt idx="2">
                  <c:v>0.32</c:v>
                </c:pt>
                <c:pt idx="3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17-4956-AC66-2DEA61228C2E}"/>
            </c:ext>
          </c:extLst>
        </c:ser>
        <c:ser>
          <c:idx val="0"/>
          <c:order val="3"/>
          <c:tx>
            <c:strRef>
              <c:f>'[Resume Maintenace 2026.xlsx]Downtime Oktober'!$R$25</c:f>
              <c:strCache>
                <c:ptCount val="1"/>
                <c:pt idx="0">
                  <c:v>Week 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'[Resume Maintenace 2026.xlsx]Downtime Oktober'!$S$21:$V$21</c:f>
              <c:strCache>
                <c:ptCount val="4"/>
                <c:pt idx="0">
                  <c:v>Otomotif</c:v>
                </c:pt>
                <c:pt idx="1">
                  <c:v>Sipil</c:v>
                </c:pt>
                <c:pt idx="2">
                  <c:v>Motor Pompa </c:v>
                </c:pt>
                <c:pt idx="3">
                  <c:v>Utility</c:v>
                </c:pt>
              </c:strCache>
            </c:strRef>
          </c:cat>
          <c:val>
            <c:numRef>
              <c:f>'[Resume Maintenace 2026.xlsx]Downtime Oktober'!$S$25:$V$25</c:f>
              <c:numCache>
                <c:formatCode>0%</c:formatCode>
                <c:ptCount val="4"/>
                <c:pt idx="0">
                  <c:v>0.66</c:v>
                </c:pt>
                <c:pt idx="1">
                  <c:v>0.5</c:v>
                </c:pt>
                <c:pt idx="2">
                  <c:v>0.55000000000000004</c:v>
                </c:pt>
                <c:pt idx="3">
                  <c:v>0.55000000000000004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17-4956-AC66-2DEA61228C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900624118"/>
        <c:axId val="271976453"/>
      </c:barChart>
      <c:lineChart>
        <c:grouping val="standard"/>
        <c:varyColors val="0"/>
        <c:ser>
          <c:idx val="1"/>
          <c:order val="0"/>
          <c:tx>
            <c:strRef>
              <c:f>'[Resume Maintenace 2026.xlsx]Downtime Oktober'!$R$22</c:f>
              <c:strCache>
                <c:ptCount val="1"/>
                <c:pt idx="0">
                  <c:v>STD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C17-4956-AC66-2DEA61228C2E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C17-4956-AC66-2DEA61228C2E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C17-4956-AC66-2DEA61228C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'[Resume Maintenace 2026.xlsx]Downtime Oktober'!$S$21:$V$21</c:f>
              <c:strCache>
                <c:ptCount val="4"/>
                <c:pt idx="0">
                  <c:v>Otomotif</c:v>
                </c:pt>
                <c:pt idx="1">
                  <c:v>Sipil</c:v>
                </c:pt>
                <c:pt idx="2">
                  <c:v>Motor Pompa </c:v>
                </c:pt>
                <c:pt idx="3">
                  <c:v>Utility</c:v>
                </c:pt>
              </c:strCache>
            </c:strRef>
          </c:cat>
          <c:val>
            <c:numRef>
              <c:f>'[Resume Maintenace 2026.xlsx]Downtime Oktober'!$S$22:$V$22</c:f>
              <c:numCache>
                <c:formatCode>0%</c:formatCode>
                <c:ptCount val="4"/>
                <c:pt idx="0">
                  <c:v>0.95</c:v>
                </c:pt>
                <c:pt idx="1">
                  <c:v>0.95</c:v>
                </c:pt>
                <c:pt idx="2">
                  <c:v>0.95</c:v>
                </c:pt>
                <c:pt idx="3">
                  <c:v>0.95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DC17-4956-AC66-2DEA61228C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00624118"/>
        <c:axId val="271976453"/>
      </c:lineChart>
      <c:catAx>
        <c:axId val="90062411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1976453"/>
        <c:crosses val="autoZero"/>
        <c:auto val="1"/>
        <c:lblAlgn val="ctr"/>
        <c:lblOffset val="100"/>
        <c:noMultiLvlLbl val="0"/>
      </c:catAx>
      <c:valAx>
        <c:axId val="27197645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0062411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9040858e-95cf-42cf-bb96-b95fb0455cde}"/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Downtime Maintenance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"STD"</c:f>
              <c:strCache>
                <c:ptCount val="1"/>
                <c:pt idx="0">
                  <c:v>STD</c:v>
                </c:pt>
              </c:strCache>
            </c:strRef>
          </c:tx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ang="5400000" scaled="0"/>
              </a:gradFill>
              <a:ln w="9525">
                <a:solidFill>
                  <a:srgbClr val="FF0000"/>
                </a:solidFill>
              </a:ln>
              <a:effectLst/>
            </c:spPr>
          </c:marker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B9D-4AB7-A6F9-139FFAEF3710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9D-4AB7-A6F9-139FFAEF3710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BB9D-4AB7-A6F9-139FFAEF3710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B9D-4AB7-A6F9-139FFAEF371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'[Resume Maintenace 2026.xlsx]Sheet1'!$F$21:$L$21</c:f>
              <c:strCache>
                <c:ptCount val="7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</c:strCache>
            </c:strRef>
          </c:cat>
          <c:val>
            <c:numRef>
              <c:f>'[Resume Maintenace 2026.xlsx]Sheet1'!$F$22:$L$22</c:f>
              <c:numCache>
                <c:formatCode>0%</c:formatCode>
                <c:ptCount val="7"/>
                <c:pt idx="0">
                  <c:v>0.02</c:v>
                </c:pt>
                <c:pt idx="1">
                  <c:v>0.02</c:v>
                </c:pt>
                <c:pt idx="2">
                  <c:v>0.02</c:v>
                </c:pt>
                <c:pt idx="3">
                  <c:v>0.02</c:v>
                </c:pt>
                <c:pt idx="4">
                  <c:v>0.02</c:v>
                </c:pt>
                <c:pt idx="5">
                  <c:v>0.02</c:v>
                </c:pt>
                <c:pt idx="6">
                  <c:v>0.02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B9D-4AB7-A6F9-139FFAEF3710}"/>
            </c:ext>
          </c:extLst>
        </c:ser>
        <c:ser>
          <c:idx val="1"/>
          <c:order val="1"/>
          <c:tx>
            <c:strRef>
              <c:f>"Downtime"</c:f>
              <c:strCache>
                <c:ptCount val="1"/>
                <c:pt idx="0">
                  <c:v>Downtime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ang="5400000" scaled="0"/>
              </a:gradFill>
              <a:ln w="9525">
                <a:solidFill>
                  <a:srgbClr val="0070C0"/>
                </a:solidFill>
              </a:ln>
              <a:effectLst/>
            </c:spPr>
          </c:marker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B9D-4AB7-A6F9-139FFAEF3710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1.92%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BB9D-4AB7-A6F9-139FFAEF3710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1.89%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BB9D-4AB7-A6F9-139FFAEF371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'[Resume Maintenace 2026.xlsx]Sheet1'!$F$21:$L$21</c:f>
              <c:strCache>
                <c:ptCount val="7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</c:strCache>
            </c:strRef>
          </c:cat>
          <c:val>
            <c:numRef>
              <c:f>'[Resume Maintenace 2026.xlsx]Sheet1'!$F$23:$L$23</c:f>
              <c:numCache>
                <c:formatCode>0%</c:formatCode>
                <c:ptCount val="7"/>
                <c:pt idx="0">
                  <c:v>0.19</c:v>
                </c:pt>
                <c:pt idx="1">
                  <c:v>0.02</c:v>
                </c:pt>
                <c:pt idx="2">
                  <c:v>0.02</c:v>
                </c:pt>
                <c:pt idx="3">
                  <c:v>0.03</c:v>
                </c:pt>
                <c:pt idx="4">
                  <c:v>0.01</c:v>
                </c:pt>
                <c:pt idx="5" formatCode="0.00%">
                  <c:v>1.9199999999999998E-2</c:v>
                </c:pt>
                <c:pt idx="6" formatCode="0.00%">
                  <c:v>1.89E-2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BB9D-4AB7-A6F9-139FFAEF37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97052828"/>
        <c:axId val="849842260"/>
      </c:lineChart>
      <c:catAx>
        <c:axId val="89705282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9842260"/>
        <c:crosses val="autoZero"/>
        <c:auto val="1"/>
        <c:lblAlgn val="ctr"/>
        <c:lblOffset val="100"/>
        <c:noMultiLvlLbl val="0"/>
      </c:catAx>
      <c:valAx>
        <c:axId val="8498422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970528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000225c-bfbf-439b-b1b3-3686b3c64a21}"/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Trend Breakdown Maintenance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'[Resume Maintenace 2026.xlsx]Sheet1'!$F$31:$L$31</c:f>
              <c:strCache>
                <c:ptCount val="7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</c:strCache>
            </c:strRef>
          </c:cat>
          <c:val>
            <c:numRef>
              <c:f>'[Resume Maintenace 2026.xlsx]Sheet1'!$F$33:$L$33</c:f>
              <c:numCache>
                <c:formatCode>General</c:formatCode>
                <c:ptCount val="7"/>
                <c:pt idx="0">
                  <c:v>24</c:v>
                </c:pt>
                <c:pt idx="1">
                  <c:v>15</c:v>
                </c:pt>
                <c:pt idx="2">
                  <c:v>17</c:v>
                </c:pt>
                <c:pt idx="3">
                  <c:v>15</c:v>
                </c:pt>
                <c:pt idx="4">
                  <c:v>12</c:v>
                </c:pt>
                <c:pt idx="5">
                  <c:v>14</c:v>
                </c:pt>
                <c:pt idx="6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0C-4931-91F6-D8E4C06C1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63573452"/>
        <c:axId val="974808464"/>
      </c:barChart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20C-4931-91F6-D8E4C06C102B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20C-4931-91F6-D8E4C06C102B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20C-4931-91F6-D8E4C06C102B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20C-4931-91F6-D8E4C06C102B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20C-4931-91F6-D8E4C06C102B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20C-4931-91F6-D8E4C06C102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'[Resume Maintenace 2026.xlsx]Sheet1'!$F$31:$L$31</c:f>
              <c:strCache>
                <c:ptCount val="7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</c:strCache>
            </c:strRef>
          </c:cat>
          <c:val>
            <c:numRef>
              <c:f>'[Resume Maintenace 2026.xlsx]Sheet1'!$F$32:$L$32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F20C-4931-91F6-D8E4C06C1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63573452"/>
        <c:axId val="974808464"/>
      </c:lineChart>
      <c:catAx>
        <c:axId val="2635734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74808464"/>
        <c:crosses val="autoZero"/>
        <c:auto val="1"/>
        <c:lblAlgn val="ctr"/>
        <c:lblOffset val="100"/>
        <c:noMultiLvlLbl val="0"/>
      </c:catAx>
      <c:valAx>
        <c:axId val="974808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35734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0682cc8a-ec5b-4077-bcf8-b153778a02ae}"/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Unit Breakdown Area Maintenance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rgbClr val="0070C0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BF5-4385-BFAD-D7C530DA93E6}"/>
              </c:ext>
            </c:extLst>
          </c:dPt>
          <c:dPt>
            <c:idx val="1"/>
            <c:bubble3D val="0"/>
            <c:spPr>
              <a:solidFill>
                <a:srgbClr val="FF1F1F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BF5-4385-BFAD-D7C530DA93E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BF5-4385-BFAD-D7C530DA93E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BF5-4385-BFAD-D7C530DA93E6}"/>
              </c:ext>
            </c:extLst>
          </c:dPt>
          <c:dLbls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000" b="0" i="0" u="none" strike="noStrike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DBF5-4385-BFAD-D7C530DA93E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'[Resume Maintenace 2026.xlsx]Sheet1'!$B$47:$B$50</c:f>
              <c:strCache>
                <c:ptCount val="4"/>
                <c:pt idx="0">
                  <c:v>Otomotif</c:v>
                </c:pt>
                <c:pt idx="1">
                  <c:v>Motor Pompa</c:v>
                </c:pt>
                <c:pt idx="2">
                  <c:v>Sipil AC</c:v>
                </c:pt>
                <c:pt idx="3">
                  <c:v>Utility</c:v>
                </c:pt>
              </c:strCache>
            </c:strRef>
          </c:cat>
          <c:val>
            <c:numRef>
              <c:f>'[Resume Maintenace 2026.xlsx]Sheet1'!$C$47:$C$50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BF5-4385-BFAD-D7C530DA93E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177e400-2e58-4801-bff7-cbbce63c18f5}"/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Trend Cost Maintenance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"Cost Maintenance"</c:f>
              <c:strCache>
                <c:ptCount val="1"/>
                <c:pt idx="0">
                  <c:v>Cost Maintenance</c:v>
                </c:pt>
              </c:strCache>
            </c:strRef>
          </c:tx>
          <c:spPr>
            <a:gradFill>
              <a:gsLst>
                <a:gs pos="0">
                  <a:srgbClr val="007BD3"/>
                </a:gs>
                <a:gs pos="100000">
                  <a:srgbClr val="034373"/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'[Resume Maintenace 2026.xlsx]Sheet2'!$P$5:$P$11</c:f>
              <c:strCache>
                <c:ptCount val="7"/>
                <c:pt idx="0">
                  <c:v>April </c:v>
                </c:pt>
                <c:pt idx="1">
                  <c:v>Mei</c:v>
                </c:pt>
                <c:pt idx="2">
                  <c:v>Juni</c:v>
                </c:pt>
                <c:pt idx="3">
                  <c:v>Juli </c:v>
                </c:pt>
                <c:pt idx="4">
                  <c:v>Agustus</c:v>
                </c:pt>
                <c:pt idx="5">
                  <c:v>September</c:v>
                </c:pt>
                <c:pt idx="6">
                  <c:v>Oktober</c:v>
                </c:pt>
              </c:strCache>
            </c:strRef>
          </c:cat>
          <c:val>
            <c:numRef>
              <c:f>'[Resume Maintenace 2026.xlsx]Sheet2'!$Q$5:$Q$11</c:f>
              <c:numCache>
                <c:formatCode>0</c:formatCode>
                <c:ptCount val="7"/>
                <c:pt idx="0">
                  <c:v>66</c:v>
                </c:pt>
                <c:pt idx="1">
                  <c:v>87</c:v>
                </c:pt>
                <c:pt idx="2">
                  <c:v>65</c:v>
                </c:pt>
                <c:pt idx="3">
                  <c:v>61</c:v>
                </c:pt>
                <c:pt idx="4">
                  <c:v>41</c:v>
                </c:pt>
                <c:pt idx="5">
                  <c:v>39</c:v>
                </c:pt>
                <c:pt idx="6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9E-45DF-A2F9-87B86B6194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992033939"/>
        <c:axId val="353961867"/>
      </c:barChart>
      <c:catAx>
        <c:axId val="992033939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3961867"/>
        <c:crosses val="autoZero"/>
        <c:auto val="1"/>
        <c:lblAlgn val="ctr"/>
        <c:lblOffset val="100"/>
        <c:noMultiLvlLbl val="0"/>
      </c:catAx>
      <c:valAx>
        <c:axId val="3539618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Juta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 defTabSz="914400"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20339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86145e1d-d76a-49fe-8cd2-fdd341ac3018}"/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MTTR X MTBF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"MTTR"</c:f>
              <c:strCache>
                <c:ptCount val="1"/>
                <c:pt idx="0">
                  <c:v>MTTR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circle"/>
            <c:size val="5"/>
            <c:spPr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ang="3600000" scaled="0"/>
              </a:gradFill>
              <a:ln w="9525">
                <a:solidFill>
                  <a:srgbClr val="0070C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'[Resume Maintenace 2026.xlsx]Sheet1'!$F$21:$L$21</c:f>
              <c:strCache>
                <c:ptCount val="7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</c:strCache>
            </c:strRef>
          </c:cat>
          <c:val>
            <c:numRef>
              <c:f>'[Resume Maintenace 2026.xlsx]Sheet1'!$F$24:$L$24</c:f>
              <c:numCache>
                <c:formatCode>General</c:formatCode>
                <c:ptCount val="7"/>
                <c:pt idx="0">
                  <c:v>6.9</c:v>
                </c:pt>
                <c:pt idx="1">
                  <c:v>2.6</c:v>
                </c:pt>
                <c:pt idx="2">
                  <c:v>2.8</c:v>
                </c:pt>
                <c:pt idx="3">
                  <c:v>2.9</c:v>
                </c:pt>
                <c:pt idx="4">
                  <c:v>8.8000000000000007</c:v>
                </c:pt>
                <c:pt idx="5">
                  <c:v>1.4</c:v>
                </c:pt>
                <c:pt idx="6">
                  <c:v>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B41-4CA6-A60D-9C9149B5E191}"/>
            </c:ext>
          </c:extLst>
        </c:ser>
        <c:ser>
          <c:idx val="1"/>
          <c:order val="1"/>
          <c:tx>
            <c:strRef>
              <c:f>"MTBF"</c:f>
              <c:strCache>
                <c:ptCount val="1"/>
                <c:pt idx="0">
                  <c:v>MTBF</c:v>
                </c:pt>
              </c:strCache>
            </c:strRef>
          </c:tx>
          <c:spPr>
            <a:ln w="28575" cap="rnd">
              <a:solidFill>
                <a:schemeClr val="accent2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75000"/>
                </a:schemeClr>
              </a:solidFill>
              <a:ln w="9525">
                <a:solidFill>
                  <a:schemeClr val="accent2">
                    <a:lumMod val="75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'[Resume Maintenace 2026.xlsx]Sheet1'!$F$21:$L$21</c:f>
              <c:strCache>
                <c:ptCount val="7"/>
                <c:pt idx="0">
                  <c:v>Apr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</c:strCache>
            </c:strRef>
          </c:cat>
          <c:val>
            <c:numRef>
              <c:f>'[Resume Maintenace 2026.xlsx]Sheet1'!$F$25:$L$25</c:f>
              <c:numCache>
                <c:formatCode>0</c:formatCode>
                <c:ptCount val="7"/>
                <c:pt idx="0">
                  <c:v>594</c:v>
                </c:pt>
                <c:pt idx="1">
                  <c:v>618</c:v>
                </c:pt>
                <c:pt idx="2">
                  <c:v>617</c:v>
                </c:pt>
                <c:pt idx="3">
                  <c:v>618</c:v>
                </c:pt>
                <c:pt idx="4">
                  <c:v>620</c:v>
                </c:pt>
                <c:pt idx="5">
                  <c:v>618</c:v>
                </c:pt>
                <c:pt idx="6">
                  <c:v>621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B41-4CA6-A60D-9C9149B5E1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65477314"/>
        <c:axId val="700974401"/>
      </c:lineChart>
      <c:catAx>
        <c:axId val="66547731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0974401"/>
        <c:crosses val="autoZero"/>
        <c:auto val="1"/>
        <c:lblAlgn val="ctr"/>
        <c:lblOffset val="100"/>
        <c:noMultiLvlLbl val="0"/>
      </c:catAx>
      <c:valAx>
        <c:axId val="70097440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547731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343e82a-e05b-492d-b745-bd8e4fcc623c}"/>
      </c:ext>
    </c:extLst>
  </c:chart>
  <c:spPr>
    <a:solidFill>
      <a:schemeClr val="bg1"/>
    </a:solidFill>
    <a:ln w="9525" cap="flat" cmpd="sng" algn="ctr">
      <a:solidFill>
        <a:schemeClr val="tx1"/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Kerusakan CM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Kejadian (x)</c:v>
                </c:pt>
              </c:strCache>
            </c:strRef>
          </c:tx>
          <c:spPr>
            <a:gradFill>
              <a:gsLst>
                <a:gs pos="100000">
                  <a:schemeClr val="accent1"/>
                </a:gs>
                <a:gs pos="0">
                  <a:schemeClr val="accent1">
                    <a:hueOff val="-1670000"/>
                  </a:schemeClr>
                </a:gs>
              </a:gsLst>
              <a:lin ang="10800000" scaled="0"/>
            </a:gradFill>
            <a:ln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>
                      <a:lumMod val="75000"/>
                      <a:hueOff val="-1670000"/>
                    </a:schemeClr>
                  </a:gs>
                </a:gsLst>
                <a:lin ang="10800000" scaled="0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ES01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88-4C5B-9BEB-2B198947DDC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MTTR (jam)</c:v>
                </c:pt>
              </c:strCache>
            </c:strRef>
          </c:tx>
          <c:spPr>
            <a:gradFill>
              <a:gsLst>
                <a:gs pos="100000">
                  <a:schemeClr val="accent2"/>
                </a:gs>
                <a:gs pos="0">
                  <a:schemeClr val="accent2">
                    <a:hueOff val="-1670000"/>
                  </a:schemeClr>
                </a:gs>
              </a:gsLst>
              <a:lin ang="10800000" scaled="0"/>
            </a:gradFill>
            <a:ln>
              <a:gradFill>
                <a:gsLst>
                  <a:gs pos="100000">
                    <a:schemeClr val="accent2">
                      <a:lumMod val="75000"/>
                    </a:schemeClr>
                  </a:gs>
                  <a:gs pos="0">
                    <a:schemeClr val="accent2">
                      <a:lumMod val="75000"/>
                      <a:hueOff val="-1670000"/>
                    </a:schemeClr>
                  </a:gs>
                </a:gsLst>
                <a:lin ang="10800000" scaled="0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ES01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88-4C5B-9BEB-2B198947DDC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418376705"/>
        <c:axId val="477190095"/>
      </c:barChart>
      <c:catAx>
        <c:axId val="418376705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190095"/>
        <c:crosses val="autoZero"/>
        <c:auto val="1"/>
        <c:lblAlgn val="ctr"/>
        <c:lblOffset val="100"/>
        <c:noMultiLvlLbl val="0"/>
      </c:catAx>
      <c:valAx>
        <c:axId val="4771900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837670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5ffb2bf-9704-4c1e-bc4c-5f5106c849eb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72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/>
              <a:t>Temuan PM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72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7783382001592799"/>
          <c:y val="0.141582025238535"/>
          <c:w val="0.67186089726572895"/>
          <c:h val="0.56952908587257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Part</c:v>
                </c:pt>
              </c:strCache>
            </c:strRef>
          </c:tx>
          <c:spPr>
            <a:gradFill>
              <a:gsLst>
                <a:gs pos="100000">
                  <a:schemeClr val="accent1"/>
                </a:gs>
                <a:gs pos="0">
                  <a:schemeClr val="accent1">
                    <a:hueOff val="-1670000"/>
                  </a:schemeClr>
                </a:gs>
              </a:gsLst>
              <a:lin ang="10800000" scaled="0"/>
            </a:gradFill>
            <a:ln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>
                      <a:lumMod val="75000"/>
                      <a:hueOff val="-1670000"/>
                    </a:schemeClr>
                  </a:gs>
                </a:gsLst>
                <a:lin ang="10800000" scaled="0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6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Horn</c:v>
                </c:pt>
                <c:pt idx="1">
                  <c:v>Ban belakang</c:v>
                </c:pt>
                <c:pt idx="2">
                  <c:v>ban depan</c:v>
                </c:pt>
                <c:pt idx="3">
                  <c:v>Bearing </c:v>
                </c:pt>
                <c:pt idx="4">
                  <c:v>Oil Seal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6</c:v>
                </c:pt>
                <c:pt idx="2">
                  <c:v>2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EF-4669-82CD-D4A638603D4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418376705"/>
        <c:axId val="477190095"/>
      </c:barChart>
      <c:catAx>
        <c:axId val="418376705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190095"/>
        <c:crosses val="autoZero"/>
        <c:auto val="1"/>
        <c:lblAlgn val="ctr"/>
        <c:lblOffset val="100"/>
        <c:noMultiLvlLbl val="0"/>
      </c:catAx>
      <c:valAx>
        <c:axId val="4771900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837670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6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6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eba4305-8da7-4027-ad04-0b5536caf18e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 sz="600" b="1"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Kerusakan CM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Kejadian (x)</c:v>
                </c:pt>
              </c:strCache>
            </c:strRef>
          </c:tx>
          <c:spPr>
            <a:gradFill>
              <a:gsLst>
                <a:gs pos="100000">
                  <a:schemeClr val="accent1"/>
                </a:gs>
                <a:gs pos="0">
                  <a:schemeClr val="accent1">
                    <a:hueOff val="-1670000"/>
                  </a:schemeClr>
                </a:gs>
              </a:gsLst>
              <a:lin ang="10800000" scaled="0"/>
            </a:gradFill>
            <a:ln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>
                      <a:lumMod val="75000"/>
                      <a:hueOff val="-1670000"/>
                    </a:schemeClr>
                  </a:gs>
                </a:gsLst>
                <a:lin ang="10800000" scaled="0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Sheet1!$B$2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7C6F-433A-83C9-A9821D89230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MTTR (jam)</c:v>
                </c:pt>
              </c:strCache>
            </c:strRef>
          </c:tx>
          <c:spPr>
            <a:gradFill>
              <a:gsLst>
                <a:gs pos="100000">
                  <a:schemeClr val="accent2"/>
                </a:gs>
                <a:gs pos="0">
                  <a:schemeClr val="accent2">
                    <a:hueOff val="-1670000"/>
                  </a:schemeClr>
                </a:gs>
              </a:gsLst>
              <a:lin ang="10800000" scaled="0"/>
            </a:gradFill>
            <a:ln>
              <a:gradFill>
                <a:gsLst>
                  <a:gs pos="100000">
                    <a:schemeClr val="accent2">
                      <a:lumMod val="75000"/>
                    </a:schemeClr>
                  </a:gs>
                  <a:gs pos="0">
                    <a:schemeClr val="accent2">
                      <a:lumMod val="75000"/>
                      <a:hueOff val="-1670000"/>
                    </a:schemeClr>
                  </a:gs>
                </a:gsLst>
                <a:lin ang="10800000" scaled="0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</c:f>
              <c:numCache>
                <c:formatCode>General</c:formatCode>
                <c:ptCount val="1"/>
              </c:numCache>
            </c:numRef>
          </c:cat>
          <c:val>
            <c:numRef>
              <c:f>Sheet1!$C$2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1-7C6F-433A-83C9-A9821D8923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418376705"/>
        <c:axId val="477190095"/>
      </c:barChart>
      <c:catAx>
        <c:axId val="418376705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190095"/>
        <c:crosses val="autoZero"/>
        <c:auto val="1"/>
        <c:lblAlgn val="ctr"/>
        <c:lblOffset val="100"/>
        <c:noMultiLvlLbl val="0"/>
      </c:catAx>
      <c:valAx>
        <c:axId val="4771900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837670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17a677c-b56b-48d1-8db8-9038a2e4c330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Temuan PM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7783382001592799"/>
          <c:y val="0.141582025238535"/>
          <c:w val="0.67186089726572895"/>
          <c:h val="0.569529085872576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Part</c:v>
                </c:pt>
              </c:strCache>
            </c:strRef>
          </c:tx>
          <c:spPr>
            <a:gradFill>
              <a:gsLst>
                <a:gs pos="100000">
                  <a:schemeClr val="accent1"/>
                </a:gs>
                <a:gs pos="0">
                  <a:schemeClr val="accent1">
                    <a:hueOff val="-1670000"/>
                  </a:schemeClr>
                </a:gs>
              </a:gsLst>
              <a:lin ang="10800000" scaled="0"/>
            </a:gradFill>
            <a:ln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>
                      <a:lumMod val="75000"/>
                      <a:hueOff val="-1670000"/>
                    </a:schemeClr>
                  </a:gs>
                </a:gsLst>
                <a:lin ang="10800000" scaled="0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Rubber Kopling</c:v>
                </c:pt>
                <c:pt idx="1">
                  <c:v>Vbelt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BCA-45FD-BA9A-1F2DD35804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418376705"/>
        <c:axId val="477190095"/>
      </c:barChart>
      <c:catAx>
        <c:axId val="418376705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190095"/>
        <c:crosses val="autoZero"/>
        <c:auto val="1"/>
        <c:lblAlgn val="ctr"/>
        <c:lblOffset val="100"/>
        <c:noMultiLvlLbl val="0"/>
      </c:catAx>
      <c:valAx>
        <c:axId val="4771900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837670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eba4305-8da7-4027-ad04-0b5536caf18e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Temuan PM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Jumlah Part</c:v>
                </c:pt>
              </c:strCache>
            </c:strRef>
          </c:tx>
          <c:spPr>
            <a:gradFill>
              <a:gsLst>
                <a:gs pos="100000">
                  <a:schemeClr val="accent1"/>
                </a:gs>
                <a:gs pos="0">
                  <a:schemeClr val="accent1">
                    <a:hueOff val="-1670000"/>
                  </a:schemeClr>
                </a:gs>
              </a:gsLst>
              <a:lin ang="10800000" scaled="0"/>
            </a:gradFill>
            <a:ln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>
                      <a:lumMod val="75000"/>
                      <a:hueOff val="-1670000"/>
                    </a:schemeClr>
                  </a:gs>
                </a:gsLst>
                <a:lin ang="10800000" scaled="0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Evaporator</c:v>
                </c:pt>
                <c:pt idx="1">
                  <c:v>Kompressor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66-4B1A-994F-30290272B06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353971070"/>
        <c:axId val="113962452"/>
      </c:barChart>
      <c:catAx>
        <c:axId val="353971070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3962452"/>
        <c:crosses val="autoZero"/>
        <c:auto val="1"/>
        <c:lblAlgn val="ctr"/>
        <c:lblOffset val="100"/>
        <c:noMultiLvlLbl val="0"/>
      </c:catAx>
      <c:valAx>
        <c:axId val="1139624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en-US" sz="10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Jumlah Part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anchor="ctr" anchorCtr="1"/>
            <a:lstStyle/>
            <a:p>
              <a:pPr defTabSz="914400">
                <a:defRPr lang="en-US" sz="10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5397107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d36b21a-2d71-4bcc-b8dd-b9eb61ab7b66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Kerusakan CM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Kejadian (x)</c:v>
                </c:pt>
              </c:strCache>
            </c:strRef>
          </c:tx>
          <c:spPr>
            <a:gradFill>
              <a:gsLst>
                <a:gs pos="100000">
                  <a:schemeClr val="accent1"/>
                </a:gs>
                <a:gs pos="0">
                  <a:schemeClr val="accent1">
                    <a:hueOff val="-1670000"/>
                  </a:schemeClr>
                </a:gs>
              </a:gsLst>
              <a:lin ang="10800000" scaled="0"/>
            </a:gradFill>
            <a:ln>
              <a:gradFill>
                <a:gsLst>
                  <a:gs pos="100000">
                    <a:schemeClr val="accent1">
                      <a:lumMod val="75000"/>
                    </a:schemeClr>
                  </a:gs>
                  <a:gs pos="0">
                    <a:schemeClr val="accent1">
                      <a:lumMod val="75000"/>
                      <a:hueOff val="-1670000"/>
                    </a:schemeClr>
                  </a:gs>
                </a:gsLst>
                <a:lin ang="10800000" scaled="0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0-F9FB-41FC-9370-0DC75D1E32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MTTR (jam)</c:v>
                </c:pt>
              </c:strCache>
            </c:strRef>
          </c:tx>
          <c:spPr>
            <a:gradFill>
              <a:gsLst>
                <a:gs pos="100000">
                  <a:schemeClr val="accent2"/>
                </a:gs>
                <a:gs pos="0">
                  <a:schemeClr val="accent2">
                    <a:hueOff val="-1670000"/>
                  </a:schemeClr>
                </a:gs>
              </a:gsLst>
              <a:lin ang="10800000" scaled="0"/>
            </a:gradFill>
            <a:ln>
              <a:gradFill>
                <a:gsLst>
                  <a:gs pos="100000">
                    <a:schemeClr val="accent2">
                      <a:lumMod val="75000"/>
                    </a:schemeClr>
                  </a:gs>
                  <a:gs pos="0">
                    <a:schemeClr val="accent2">
                      <a:lumMod val="75000"/>
                      <a:hueOff val="-1670000"/>
                    </a:schemeClr>
                  </a:gs>
                </a:gsLst>
                <a:lin ang="10800000" scaled="0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Sheet1!$C$2:$C$3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1-F9FB-41FC-9370-0DC75D1E32A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-40"/>
        <c:axId val="418376705"/>
        <c:axId val="477190095"/>
      </c:barChart>
      <c:catAx>
        <c:axId val="418376705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7190095"/>
        <c:crosses val="autoZero"/>
        <c:auto val="1"/>
        <c:lblAlgn val="ctr"/>
        <c:lblOffset val="100"/>
        <c:noMultiLvlLbl val="0"/>
      </c:catAx>
      <c:valAx>
        <c:axId val="47719009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837670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17a677c-b56b-48d1-8db8-9038a2e4c330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6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sz="1600"/>
              <a:t>Cost Operasional ENG Utility &amp; Project (Rp.Jt)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16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'[Rekap SMKP 2026.xlsx]Cost ENG'!$B$1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chemeClr val="accent1">
                    <a:hueOff val="-1670000"/>
                  </a:schemeClr>
                </a:gs>
                <a:gs pos="100000">
                  <a:schemeClr val="accent1"/>
                </a:gs>
              </a:gsLst>
              <a:lin ang="5400000" scaled="0"/>
            </a:gradFill>
            <a:ln>
              <a:gradFill>
                <a:gsLst>
                  <a:gs pos="0">
                    <a:schemeClr val="accent1">
                      <a:lumMod val="75000"/>
                      <a:hueOff val="-167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160000" scaled="1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'[Rekap SMKP 2026.xlsx]Cost ENG'!$A$2:$A$10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'[Rekap SMKP 2026.xlsx]Cost ENG'!$B$2:$B$10</c:f>
              <c:numCache>
                <c:formatCode>General</c:formatCode>
                <c:ptCount val="9"/>
                <c:pt idx="0">
                  <c:v>176.6</c:v>
                </c:pt>
                <c:pt idx="1">
                  <c:v>166.6</c:v>
                </c:pt>
                <c:pt idx="2">
                  <c:v>142.4</c:v>
                </c:pt>
                <c:pt idx="3">
                  <c:v>193.7</c:v>
                </c:pt>
                <c:pt idx="4">
                  <c:v>170.2</c:v>
                </c:pt>
                <c:pt idx="5">
                  <c:v>171.5</c:v>
                </c:pt>
                <c:pt idx="6">
                  <c:v>195.9</c:v>
                </c:pt>
                <c:pt idx="7">
                  <c:v>196.1</c:v>
                </c:pt>
                <c:pt idx="8">
                  <c:v>170.8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D8-419C-A600-61D380FDFD57}"/>
            </c:ext>
          </c:extLst>
        </c:ser>
        <c:ser>
          <c:idx val="1"/>
          <c:order val="1"/>
          <c:tx>
            <c:strRef>
              <c:f>'[Rekap SMKP 2026.xlsx]Cost ENG'!$C$1</c:f>
              <c:strCache>
                <c:ptCount val="1"/>
                <c:pt idx="0">
                  <c:v>Consumable</c:v>
                </c:pt>
              </c:strCache>
            </c:strRef>
          </c:tx>
          <c:spPr>
            <a:gradFill>
              <a:gsLst>
                <a:gs pos="0">
                  <a:schemeClr val="accent2">
                    <a:hueOff val="-1670000"/>
                  </a:schemeClr>
                </a:gs>
                <a:gs pos="100000">
                  <a:schemeClr val="accent2"/>
                </a:gs>
              </a:gsLst>
              <a:lin ang="5400000" scaled="0"/>
            </a:gradFill>
            <a:ln>
              <a:gradFill>
                <a:gsLst>
                  <a:gs pos="0">
                    <a:schemeClr val="accent2">
                      <a:lumMod val="75000"/>
                      <a:hueOff val="-1670000"/>
                    </a:schemeClr>
                  </a:gs>
                  <a:gs pos="100000">
                    <a:schemeClr val="accent2">
                      <a:lumMod val="75000"/>
                    </a:schemeClr>
                  </a:gs>
                </a:gsLst>
                <a:lin ang="5160000" scaled="1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'[Rekap SMKP 2026.xlsx]Cost ENG'!$A$2:$A$10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'[Rekap SMKP 2026.xlsx]Cost ENG'!$C$2:$C$10</c:f>
              <c:numCache>
                <c:formatCode>General</c:formatCode>
                <c:ptCount val="9"/>
                <c:pt idx="0">
                  <c:v>82.4</c:v>
                </c:pt>
                <c:pt idx="1">
                  <c:v>83.2</c:v>
                </c:pt>
                <c:pt idx="2">
                  <c:v>51.5</c:v>
                </c:pt>
                <c:pt idx="3">
                  <c:v>71.599999999999994</c:v>
                </c:pt>
                <c:pt idx="4">
                  <c:v>82.8</c:v>
                </c:pt>
                <c:pt idx="5">
                  <c:v>106.7</c:v>
                </c:pt>
                <c:pt idx="6">
                  <c:v>111.1</c:v>
                </c:pt>
                <c:pt idx="7">
                  <c:v>155.6</c:v>
                </c:pt>
                <c:pt idx="8">
                  <c:v>131.4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9D8-419C-A600-61D380FDFD57}"/>
            </c:ext>
          </c:extLst>
        </c:ser>
        <c:ser>
          <c:idx val="2"/>
          <c:order val="2"/>
          <c:tx>
            <c:strRef>
              <c:f>'[Rekap SMKP 2026.xlsx]Cost ENG'!$D$1</c:f>
              <c:strCache>
                <c:ptCount val="1"/>
                <c:pt idx="0">
                  <c:v>Maintenance</c:v>
                </c:pt>
              </c:strCache>
            </c:strRef>
          </c:tx>
          <c:spPr>
            <a:gradFill>
              <a:gsLst>
                <a:gs pos="0">
                  <a:schemeClr val="accent3">
                    <a:hueOff val="-1670000"/>
                  </a:schemeClr>
                </a:gs>
                <a:gs pos="100000">
                  <a:schemeClr val="accent3"/>
                </a:gs>
              </a:gsLst>
              <a:lin ang="5400000" scaled="0"/>
            </a:gradFill>
            <a:ln>
              <a:gradFill>
                <a:gsLst>
                  <a:gs pos="0">
                    <a:schemeClr val="accent3">
                      <a:lumMod val="75000"/>
                      <a:hueOff val="-1670000"/>
                    </a:schemeClr>
                  </a:gs>
                  <a:gs pos="100000">
                    <a:schemeClr val="accent3">
                      <a:lumMod val="75000"/>
                    </a:schemeClr>
                  </a:gs>
                </a:gsLst>
                <a:lin ang="5160000" scaled="1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'[Rekap SMKP 2026.xlsx]Cost ENG'!$A$2:$A$10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'[Rekap SMKP 2026.xlsx]Cost ENG'!$D$2:$D$10</c:f>
              <c:numCache>
                <c:formatCode>General</c:formatCode>
                <c:ptCount val="9"/>
                <c:pt idx="0">
                  <c:v>94.2</c:v>
                </c:pt>
                <c:pt idx="1">
                  <c:v>80.8</c:v>
                </c:pt>
                <c:pt idx="2">
                  <c:v>69.3</c:v>
                </c:pt>
                <c:pt idx="3">
                  <c:v>112.6</c:v>
                </c:pt>
                <c:pt idx="4">
                  <c:v>87.3</c:v>
                </c:pt>
                <c:pt idx="5">
                  <c:v>64.8</c:v>
                </c:pt>
                <c:pt idx="6">
                  <c:v>61.3</c:v>
                </c:pt>
                <c:pt idx="7">
                  <c:v>40.6</c:v>
                </c:pt>
                <c:pt idx="8">
                  <c:v>39.299999999999997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9D8-419C-A600-61D380FDFD57}"/>
            </c:ext>
          </c:extLst>
        </c:ser>
        <c:ser>
          <c:idx val="3"/>
          <c:order val="3"/>
          <c:tx>
            <c:strRef>
              <c:f>'[Rekap SMKP 2026.xlsx]Cost ENG'!$E$1</c:f>
              <c:strCache>
                <c:ptCount val="1"/>
                <c:pt idx="0">
                  <c:v>Service</c:v>
                </c:pt>
              </c:strCache>
            </c:strRef>
          </c:tx>
          <c:spPr>
            <a:gradFill>
              <a:gsLst>
                <a:gs pos="0">
                  <a:schemeClr val="accent4">
                    <a:hueOff val="-1670000"/>
                  </a:schemeClr>
                </a:gs>
                <a:gs pos="100000">
                  <a:schemeClr val="accent4"/>
                </a:gs>
              </a:gsLst>
              <a:lin ang="5400000" scaled="0"/>
            </a:gradFill>
            <a:ln>
              <a:gradFill>
                <a:gsLst>
                  <a:gs pos="0">
                    <a:schemeClr val="accent4">
                      <a:lumMod val="75000"/>
                      <a:hueOff val="-1670000"/>
                    </a:schemeClr>
                  </a:gs>
                  <a:gs pos="100000">
                    <a:schemeClr val="accent4">
                      <a:lumMod val="75000"/>
                    </a:schemeClr>
                  </a:gs>
                </a:gsLst>
                <a:lin ang="5160000" scaled="1"/>
              </a:gra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'[Rekap SMKP 2026.xlsx]Cost ENG'!$A$2:$A$10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'[Rekap SMKP 2026.xlsx]Cost ENG'!$E$2:$E$10</c:f>
              <c:numCache>
                <c:formatCode>General</c:formatCode>
                <c:ptCount val="9"/>
                <c:pt idx="0">
                  <c:v>0</c:v>
                </c:pt>
                <c:pt idx="1">
                  <c:v>2.4</c:v>
                </c:pt>
                <c:pt idx="2">
                  <c:v>21.6</c:v>
                </c:pt>
                <c:pt idx="3">
                  <c:v>9.4</c:v>
                </c:pt>
                <c:pt idx="4">
                  <c:v>0</c:v>
                </c:pt>
                <c:pt idx="5">
                  <c:v>0</c:v>
                </c:pt>
                <c:pt idx="6">
                  <c:v>23.4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9D8-419C-A600-61D380FDFD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967725350"/>
        <c:axId val="413672621"/>
      </c:barChart>
      <c:catAx>
        <c:axId val="96772535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3672621"/>
        <c:crosses val="autoZero"/>
        <c:auto val="1"/>
        <c:lblAlgn val="ctr"/>
        <c:lblOffset val="100"/>
        <c:noMultiLvlLbl val="0"/>
      </c:catAx>
      <c:valAx>
        <c:axId val="41367262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96772535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10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a938a0e-612a-4369-afee-7943b469dcd8}"/>
      </c:ext>
    </c:extLst>
  </c:chart>
  <c:spPr>
    <a:solidFill>
      <a:schemeClr val="lt1">
        <a:lumMod val="96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305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hueOff val="-1670000"/>
            </a:schemeClr>
          </a:gs>
          <a:gs pos="100000">
            <a:schemeClr val="phClr"/>
          </a:gs>
        </a:gsLst>
        <a:lin ang="5400000" scaled="0"/>
      </a:gradFill>
      <a:ln>
        <a:gradFill>
          <a:gsLst>
            <a:gs pos="0">
              <a:schemeClr val="phClr">
                <a:lumMod val="75000"/>
                <a:hueOff val="-1670000"/>
              </a:schemeClr>
            </a:gs>
            <a:gs pos="100000">
              <a:schemeClr val="phClr">
                <a:lumMod val="75000"/>
              </a:schemeClr>
            </a:gs>
          </a:gsLst>
          <a:lin ang="5160000" scaled="1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>
                <a:hueOff val="-1670000"/>
              </a:schemeClr>
            </a:gs>
            <a:gs pos="100000">
              <a:schemeClr val="phClr"/>
            </a:gs>
          </a:gsLst>
          <a:lin ang="5160000" scaled="1"/>
        </a:gra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305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hueOff val="-1670000"/>
            </a:schemeClr>
          </a:gs>
          <a:gs pos="100000">
            <a:schemeClr val="phClr"/>
          </a:gs>
        </a:gsLst>
        <a:lin ang="5400000" scaled="0"/>
      </a:gradFill>
      <a:ln>
        <a:gradFill>
          <a:gsLst>
            <a:gs pos="0">
              <a:schemeClr val="phClr">
                <a:lumMod val="75000"/>
                <a:hueOff val="-1670000"/>
              </a:schemeClr>
            </a:gs>
            <a:gs pos="100000">
              <a:schemeClr val="phClr">
                <a:lumMod val="75000"/>
              </a:schemeClr>
            </a:gs>
          </a:gsLst>
          <a:lin ang="5160000" scaled="1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>
                <a:hueOff val="-1670000"/>
              </a:schemeClr>
            </a:gs>
            <a:gs pos="100000">
              <a:schemeClr val="phClr"/>
            </a:gs>
          </a:gsLst>
          <a:lin ang="5160000" scaled="1"/>
        </a:gra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305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hueOff val="-1670000"/>
            </a:schemeClr>
          </a:gs>
          <a:gs pos="100000">
            <a:schemeClr val="phClr"/>
          </a:gs>
        </a:gsLst>
        <a:lin ang="5400000" scaled="0"/>
      </a:gradFill>
      <a:ln>
        <a:gradFill>
          <a:gsLst>
            <a:gs pos="0">
              <a:schemeClr val="phClr">
                <a:lumMod val="75000"/>
                <a:hueOff val="-1670000"/>
              </a:schemeClr>
            </a:gs>
            <a:gs pos="100000">
              <a:schemeClr val="phClr">
                <a:lumMod val="75000"/>
              </a:schemeClr>
            </a:gs>
          </a:gsLst>
          <a:lin ang="5160000" scaled="1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>
                <a:hueOff val="-1670000"/>
              </a:schemeClr>
            </a:gs>
            <a:gs pos="100000">
              <a:schemeClr val="phClr"/>
            </a:gs>
          </a:gsLst>
          <a:lin ang="5160000" scaled="1"/>
        </a:gra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305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hueOff val="-1670000"/>
            </a:schemeClr>
          </a:gs>
          <a:gs pos="100000">
            <a:schemeClr val="phClr"/>
          </a:gs>
        </a:gsLst>
        <a:lin ang="5400000" scaled="0"/>
      </a:gradFill>
      <a:ln>
        <a:gradFill>
          <a:gsLst>
            <a:gs pos="0">
              <a:schemeClr val="phClr">
                <a:lumMod val="75000"/>
                <a:hueOff val="-1670000"/>
              </a:schemeClr>
            </a:gs>
            <a:gs pos="100000">
              <a:schemeClr val="phClr">
                <a:lumMod val="75000"/>
              </a:schemeClr>
            </a:gs>
          </a:gsLst>
          <a:lin ang="5160000" scaled="1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>
                <a:hueOff val="-1670000"/>
              </a:schemeClr>
            </a:gs>
            <a:gs pos="100000">
              <a:schemeClr val="phClr"/>
            </a:gs>
          </a:gsLst>
          <a:lin ang="5160000" scaled="1"/>
        </a:gra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3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hueOff val="-1670000"/>
            </a:schemeClr>
          </a:gs>
          <a:gs pos="100000">
            <a:schemeClr val="phClr"/>
          </a:gs>
        </a:gsLst>
        <a:lin ang="5400000" scaled="0"/>
      </a:gradFill>
      <a:ln>
        <a:gradFill>
          <a:gsLst>
            <a:gs pos="0">
              <a:schemeClr val="phClr">
                <a:lumMod val="75000"/>
                <a:hueOff val="-1670000"/>
              </a:schemeClr>
            </a:gs>
            <a:gs pos="100000">
              <a:schemeClr val="phClr">
                <a:lumMod val="75000"/>
              </a:schemeClr>
            </a:gs>
          </a:gsLst>
          <a:lin ang="5160000" scaled="1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>
                <a:hueOff val="-1670000"/>
              </a:schemeClr>
            </a:gs>
            <a:gs pos="100000">
              <a:schemeClr val="phClr"/>
            </a:gs>
          </a:gsLst>
          <a:lin ang="5160000" scaled="1"/>
        </a:gra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1005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10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1008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1005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28575" cap="rnd">
        <a:solidFill>
          <a:schemeClr val="phClr"/>
        </a:soli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dk1"/>
    </cs:fontRef>
    <cs:spPr>
      <a:ln w="9525">
        <a:solidFill>
          <a:schemeClr val="phClr"/>
        </a:solidFill>
      </a:ln>
      <a:effectLst/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1012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hueOff val="-1670000"/>
            </a:schemeClr>
          </a:gs>
        </a:gsLst>
        <a:lin ang="10800000" scaled="0"/>
      </a:gradFill>
      <a:ln>
        <a:gradFill>
          <a:gsLst>
            <a:gs pos="100000">
              <a:schemeClr val="phClr">
                <a:lumMod val="75000"/>
              </a:schemeClr>
            </a:gs>
            <a:gs pos="0">
              <a:schemeClr val="phClr">
                <a:lumMod val="75000"/>
                <a:hueOff val="-1670000"/>
              </a:schemeClr>
            </a:gs>
          </a:gsLst>
          <a:lin ang="10800000" scaled="0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1012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hueOff val="-1670000"/>
            </a:schemeClr>
          </a:gs>
        </a:gsLst>
        <a:lin ang="10800000" scaled="0"/>
      </a:gradFill>
      <a:ln>
        <a:gradFill>
          <a:gsLst>
            <a:gs pos="100000">
              <a:schemeClr val="phClr">
                <a:lumMod val="75000"/>
              </a:schemeClr>
            </a:gs>
            <a:gs pos="0">
              <a:schemeClr val="phClr">
                <a:lumMod val="75000"/>
                <a:hueOff val="-1670000"/>
              </a:schemeClr>
            </a:gs>
          </a:gsLst>
          <a:lin ang="10800000" scaled="0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1012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hueOff val="-1670000"/>
            </a:schemeClr>
          </a:gs>
        </a:gsLst>
        <a:lin ang="10800000" scaled="0"/>
      </a:gradFill>
      <a:ln>
        <a:gradFill>
          <a:gsLst>
            <a:gs pos="100000">
              <a:schemeClr val="phClr">
                <a:lumMod val="75000"/>
              </a:schemeClr>
            </a:gs>
            <a:gs pos="0">
              <a:schemeClr val="phClr">
                <a:lumMod val="75000"/>
                <a:hueOff val="-1670000"/>
              </a:schemeClr>
            </a:gs>
          </a:gsLst>
          <a:lin ang="10800000" scaled="0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1012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hueOff val="-1670000"/>
            </a:schemeClr>
          </a:gs>
        </a:gsLst>
        <a:lin ang="10800000" scaled="0"/>
      </a:gradFill>
      <a:ln>
        <a:gradFill>
          <a:gsLst>
            <a:gs pos="100000">
              <a:schemeClr val="phClr">
                <a:lumMod val="75000"/>
              </a:schemeClr>
            </a:gs>
            <a:gs pos="0">
              <a:schemeClr val="phClr">
                <a:lumMod val="75000"/>
                <a:hueOff val="-1670000"/>
              </a:schemeClr>
            </a:gs>
          </a:gsLst>
          <a:lin ang="10800000" scaled="0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1012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hueOff val="-1670000"/>
            </a:schemeClr>
          </a:gs>
        </a:gsLst>
        <a:lin ang="10800000" scaled="0"/>
      </a:gradFill>
      <a:ln>
        <a:gradFill>
          <a:gsLst>
            <a:gs pos="100000">
              <a:schemeClr val="phClr">
                <a:lumMod val="75000"/>
              </a:schemeClr>
            </a:gs>
            <a:gs pos="0">
              <a:schemeClr val="phClr">
                <a:lumMod val="75000"/>
                <a:hueOff val="-1670000"/>
              </a:schemeClr>
            </a:gs>
          </a:gsLst>
          <a:lin ang="10800000" scaled="0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1012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100000">
            <a:schemeClr val="phClr"/>
          </a:gs>
          <a:gs pos="0">
            <a:schemeClr val="phClr">
              <a:hueOff val="-1670000"/>
            </a:schemeClr>
          </a:gs>
        </a:gsLst>
        <a:lin ang="10800000" scaled="0"/>
      </a:gradFill>
      <a:ln>
        <a:gradFill>
          <a:gsLst>
            <a:gs pos="100000">
              <a:schemeClr val="phClr">
                <a:lumMod val="75000"/>
              </a:schemeClr>
            </a:gs>
            <a:gs pos="0">
              <a:schemeClr val="phClr">
                <a:lumMod val="75000"/>
                <a:hueOff val="-1670000"/>
              </a:schemeClr>
            </a:gs>
          </a:gsLst>
          <a:lin ang="10800000" scaled="0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10305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lt1">
          <a:lumMod val="96000"/>
        </a:schemeClr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>
              <a:hueOff val="-1670000"/>
            </a:schemeClr>
          </a:gs>
          <a:gs pos="100000">
            <a:schemeClr val="phClr"/>
          </a:gs>
        </a:gsLst>
        <a:lin ang="5400000" scaled="0"/>
      </a:gradFill>
      <a:ln>
        <a:gradFill>
          <a:gsLst>
            <a:gs pos="0">
              <a:schemeClr val="phClr">
                <a:lumMod val="75000"/>
                <a:hueOff val="-1670000"/>
              </a:schemeClr>
            </a:gs>
            <a:gs pos="100000">
              <a:schemeClr val="phClr">
                <a:lumMod val="75000"/>
              </a:schemeClr>
            </a:gs>
          </a:gsLst>
          <a:lin ang="5160000" scaled="1"/>
        </a:gra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>
                <a:hueOff val="-1670000"/>
              </a:schemeClr>
            </a:gs>
            <a:gs pos="100000">
              <a:schemeClr val="phClr"/>
            </a:gs>
          </a:gsLst>
          <a:lin ang="5160000" scaled="1"/>
        </a:gradFill>
        <a:round/>
      </a:ln>
      <a:effectLst/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slideLayout" Target="../slideLayouts/slideLayout1.xml"/><Relationship Id="rId7" Type="http://schemas.openxmlformats.org/officeDocument/2006/relationships/chart" Target="../charts/chart4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13" Type="http://schemas.openxmlformats.org/officeDocument/2006/relationships/image" Target="../media/image6.emf"/><Relationship Id="rId18" Type="http://schemas.openxmlformats.org/officeDocument/2006/relationships/image" Target="../media/image11.jpeg"/><Relationship Id="rId3" Type="http://schemas.openxmlformats.org/officeDocument/2006/relationships/tags" Target="../tags/tag11.xml"/><Relationship Id="rId21" Type="http://schemas.openxmlformats.org/officeDocument/2006/relationships/image" Target="../media/image14.png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5.png"/><Relationship Id="rId17" Type="http://schemas.openxmlformats.org/officeDocument/2006/relationships/image" Target="../media/image10.jpeg"/><Relationship Id="rId2" Type="http://schemas.openxmlformats.org/officeDocument/2006/relationships/tags" Target="../tags/tag10.xml"/><Relationship Id="rId16" Type="http://schemas.openxmlformats.org/officeDocument/2006/relationships/image" Target="../media/image9.jpeg"/><Relationship Id="rId20" Type="http://schemas.openxmlformats.org/officeDocument/2006/relationships/image" Target="../media/image13.jpeg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4.png"/><Relationship Id="rId5" Type="http://schemas.openxmlformats.org/officeDocument/2006/relationships/tags" Target="../tags/tag13.xml"/><Relationship Id="rId15" Type="http://schemas.openxmlformats.org/officeDocument/2006/relationships/image" Target="../media/image8.png"/><Relationship Id="rId10" Type="http://schemas.openxmlformats.org/officeDocument/2006/relationships/image" Target="../media/image3.emf"/><Relationship Id="rId19" Type="http://schemas.openxmlformats.org/officeDocument/2006/relationships/image" Target="../media/image12.jpeg"/><Relationship Id="rId4" Type="http://schemas.openxmlformats.org/officeDocument/2006/relationships/tags" Target="../tags/tag12.xml"/><Relationship Id="rId9" Type="http://schemas.openxmlformats.org/officeDocument/2006/relationships/image" Target="../media/image2.png"/><Relationship Id="rId14" Type="http://schemas.openxmlformats.org/officeDocument/2006/relationships/image" Target="../media/image7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2.png"/><Relationship Id="rId7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10" Type="http://schemas.openxmlformats.org/officeDocument/2006/relationships/chart" Target="../charts/chart7.xml"/><Relationship Id="rId4" Type="http://schemas.openxmlformats.org/officeDocument/2006/relationships/image" Target="../media/image3.emf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3.emf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13" Type="http://schemas.openxmlformats.org/officeDocument/2006/relationships/image" Target="../media/image32.jpeg"/><Relationship Id="rId3" Type="http://schemas.openxmlformats.org/officeDocument/2006/relationships/image" Target="../media/image2.png"/><Relationship Id="rId7" Type="http://schemas.openxmlformats.org/officeDocument/2006/relationships/image" Target="../media/image26.jpeg"/><Relationship Id="rId12" Type="http://schemas.openxmlformats.org/officeDocument/2006/relationships/image" Target="../media/image3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eg"/><Relationship Id="rId11" Type="http://schemas.openxmlformats.org/officeDocument/2006/relationships/image" Target="../media/image30.jpeg"/><Relationship Id="rId5" Type="http://schemas.openxmlformats.org/officeDocument/2006/relationships/image" Target="../media/image24.jpeg"/><Relationship Id="rId10" Type="http://schemas.openxmlformats.org/officeDocument/2006/relationships/image" Target="../media/image29.jpeg"/><Relationship Id="rId4" Type="http://schemas.openxmlformats.org/officeDocument/2006/relationships/image" Target="../media/image3.emf"/><Relationship Id="rId9" Type="http://schemas.openxmlformats.org/officeDocument/2006/relationships/image" Target="../media/image28.jpeg"/><Relationship Id="rId14" Type="http://schemas.openxmlformats.org/officeDocument/2006/relationships/image" Target="../media/image33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0.xml"/><Relationship Id="rId3" Type="http://schemas.openxmlformats.org/officeDocument/2006/relationships/notesSlide" Target="../notesSlides/notesSlide11.xml"/><Relationship Id="rId7" Type="http://schemas.openxmlformats.org/officeDocument/2006/relationships/chart" Target="../charts/chart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chart" Target="../charts/chart8.xml"/><Relationship Id="rId11" Type="http://schemas.openxmlformats.org/officeDocument/2006/relationships/chart" Target="../charts/chart13.xml"/><Relationship Id="rId5" Type="http://schemas.openxmlformats.org/officeDocument/2006/relationships/image" Target="../media/image3.emf"/><Relationship Id="rId10" Type="http://schemas.openxmlformats.org/officeDocument/2006/relationships/chart" Target="../charts/chart12.xml"/><Relationship Id="rId4" Type="http://schemas.openxmlformats.org/officeDocument/2006/relationships/image" Target="../media/image2.png"/><Relationship Id="rId9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35.png"/><Relationship Id="rId18" Type="http://schemas.openxmlformats.org/officeDocument/2006/relationships/image" Target="../media/image40.png"/><Relationship Id="rId26" Type="http://schemas.openxmlformats.org/officeDocument/2006/relationships/image" Target="../media/image48.png"/><Relationship Id="rId3" Type="http://schemas.openxmlformats.org/officeDocument/2006/relationships/tags" Target="../tags/tag18.xml"/><Relationship Id="rId21" Type="http://schemas.openxmlformats.org/officeDocument/2006/relationships/image" Target="../media/image43.png"/><Relationship Id="rId7" Type="http://schemas.openxmlformats.org/officeDocument/2006/relationships/notesSlide" Target="../notesSlides/notesSlide12.xml"/><Relationship Id="rId12" Type="http://schemas.openxmlformats.org/officeDocument/2006/relationships/image" Target="../media/image34.png"/><Relationship Id="rId17" Type="http://schemas.openxmlformats.org/officeDocument/2006/relationships/image" Target="../media/image39.png"/><Relationship Id="rId25" Type="http://schemas.openxmlformats.org/officeDocument/2006/relationships/image" Target="../media/image47.png"/><Relationship Id="rId2" Type="http://schemas.openxmlformats.org/officeDocument/2006/relationships/tags" Target="../tags/tag17.xml"/><Relationship Id="rId16" Type="http://schemas.openxmlformats.org/officeDocument/2006/relationships/image" Target="../media/image38.png"/><Relationship Id="rId20" Type="http://schemas.openxmlformats.org/officeDocument/2006/relationships/image" Target="../media/image42.png"/><Relationship Id="rId1" Type="http://schemas.openxmlformats.org/officeDocument/2006/relationships/tags" Target="../tags/tag16.xml"/><Relationship Id="rId6" Type="http://schemas.openxmlformats.org/officeDocument/2006/relationships/slideLayout" Target="../slideLayouts/slideLayout2.xml"/><Relationship Id="rId11" Type="http://schemas.openxmlformats.org/officeDocument/2006/relationships/chart" Target="../charts/chart15.xml"/><Relationship Id="rId24" Type="http://schemas.openxmlformats.org/officeDocument/2006/relationships/image" Target="../media/image46.png"/><Relationship Id="rId5" Type="http://schemas.openxmlformats.org/officeDocument/2006/relationships/tags" Target="../tags/tag20.xml"/><Relationship Id="rId15" Type="http://schemas.openxmlformats.org/officeDocument/2006/relationships/image" Target="../media/image37.png"/><Relationship Id="rId23" Type="http://schemas.openxmlformats.org/officeDocument/2006/relationships/image" Target="../media/image45.png"/><Relationship Id="rId10" Type="http://schemas.openxmlformats.org/officeDocument/2006/relationships/chart" Target="../charts/chart14.xml"/><Relationship Id="rId19" Type="http://schemas.openxmlformats.org/officeDocument/2006/relationships/image" Target="../media/image41.png"/><Relationship Id="rId4" Type="http://schemas.openxmlformats.org/officeDocument/2006/relationships/tags" Target="../tags/tag19.xml"/><Relationship Id="rId9" Type="http://schemas.openxmlformats.org/officeDocument/2006/relationships/image" Target="../media/image3.emf"/><Relationship Id="rId14" Type="http://schemas.openxmlformats.org/officeDocument/2006/relationships/image" Target="../media/image36.png"/><Relationship Id="rId22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3.emf"/><Relationship Id="rId10" Type="http://schemas.openxmlformats.org/officeDocument/2006/relationships/image" Target="../media/image53.png"/><Relationship Id="rId4" Type="http://schemas.openxmlformats.org/officeDocument/2006/relationships/image" Target="../media/image2.png"/><Relationship Id="rId9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58.png"/><Relationship Id="rId3" Type="http://schemas.openxmlformats.org/officeDocument/2006/relationships/tags" Target="../tags/tag24.xml"/><Relationship Id="rId7" Type="http://schemas.openxmlformats.org/officeDocument/2006/relationships/notesSlide" Target="../notesSlides/notesSlide14.xml"/><Relationship Id="rId12" Type="http://schemas.openxmlformats.org/officeDocument/2006/relationships/image" Target="../media/image57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Layout" Target="../slideLayouts/slideLayout2.xml"/><Relationship Id="rId11" Type="http://schemas.openxmlformats.org/officeDocument/2006/relationships/chart" Target="../charts/chart17.xml"/><Relationship Id="rId5" Type="http://schemas.openxmlformats.org/officeDocument/2006/relationships/tags" Target="../tags/tag26.xml"/><Relationship Id="rId15" Type="http://schemas.openxmlformats.org/officeDocument/2006/relationships/image" Target="../media/image60.png"/><Relationship Id="rId10" Type="http://schemas.openxmlformats.org/officeDocument/2006/relationships/chart" Target="../charts/chart16.xml"/><Relationship Id="rId4" Type="http://schemas.openxmlformats.org/officeDocument/2006/relationships/tags" Target="../tags/tag25.xml"/><Relationship Id="rId9" Type="http://schemas.openxmlformats.org/officeDocument/2006/relationships/image" Target="../media/image3.emf"/><Relationship Id="rId1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2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3.emf"/><Relationship Id="rId9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13" Type="http://schemas.openxmlformats.org/officeDocument/2006/relationships/image" Target="../media/image71.png"/><Relationship Id="rId3" Type="http://schemas.openxmlformats.org/officeDocument/2006/relationships/slideLayout" Target="../slideLayouts/slideLayout2.xml"/><Relationship Id="rId7" Type="http://schemas.openxmlformats.org/officeDocument/2006/relationships/chart" Target="../charts/chart18.xml"/><Relationship Id="rId12" Type="http://schemas.openxmlformats.org/officeDocument/2006/relationships/image" Target="../media/image70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3.emf"/><Relationship Id="rId11" Type="http://schemas.openxmlformats.org/officeDocument/2006/relationships/image" Target="../media/image69.png"/><Relationship Id="rId5" Type="http://schemas.openxmlformats.org/officeDocument/2006/relationships/image" Target="../media/image2.png"/><Relationship Id="rId10" Type="http://schemas.openxmlformats.org/officeDocument/2006/relationships/image" Target="../media/image68.png"/><Relationship Id="rId4" Type="http://schemas.openxmlformats.org/officeDocument/2006/relationships/notesSlide" Target="../notesSlides/notesSlide16.xml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0.xml"/><Relationship Id="rId3" Type="http://schemas.openxmlformats.org/officeDocument/2006/relationships/tags" Target="../tags/tag31.xml"/><Relationship Id="rId7" Type="http://schemas.openxmlformats.org/officeDocument/2006/relationships/image" Target="../media/image3.emf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2.png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3.png"/><Relationship Id="rId4" Type="http://schemas.openxmlformats.org/officeDocument/2006/relationships/image" Target="../media/image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510567"/>
            <a:ext cx="12192635" cy="5356860"/>
          </a:xfrm>
          <a:prstGeom prst="rect">
            <a:avLst/>
          </a:prstGeom>
          <a:gradFill flip="none" rotWithShape="1">
            <a:gsLst>
              <a:gs pos="0">
                <a:srgbClr val="AE0000"/>
              </a:gs>
              <a:gs pos="80000">
                <a:srgbClr val="870000"/>
              </a:gs>
            </a:gsLst>
            <a:lin ang="8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endParaRPr lang="en-US">
              <a:solidFill>
                <a:schemeClr val="accent4"/>
              </a:solidFill>
              <a:effectLst/>
            </a:endParaRPr>
          </a:p>
        </p:txBody>
      </p:sp>
      <p:pic>
        <p:nvPicPr>
          <p:cNvPr id="11" name="Picture 10" descr="Logo PT.BAS.png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498170" y="449700"/>
            <a:ext cx="2434442" cy="572384"/>
          </a:xfrm>
          <a:prstGeom prst="rect">
            <a:avLst/>
          </a:prstGeom>
        </p:spPr>
      </p:pic>
      <p:sp>
        <p:nvSpPr>
          <p:cNvPr id="6" name="Title 1"/>
          <p:cNvSpPr txBox="1"/>
          <p:nvPr/>
        </p:nvSpPr>
        <p:spPr>
          <a:xfrm>
            <a:off x="498475" y="2743200"/>
            <a:ext cx="8258175" cy="7010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80000"/>
              </a:lnSpc>
            </a:pPr>
            <a:r>
              <a:rPr lang="en-US" sz="5400" b="1" dirty="0">
                <a:solidFill>
                  <a:schemeClr val="bg1"/>
                </a:solidFill>
                <a:latin typeface="Century Gothic" panose="020B0502020202020204"/>
                <a:cs typeface="Century Gothic" panose="020B0502020202020204"/>
              </a:rPr>
              <a:t>ENGINEERING</a:t>
            </a:r>
          </a:p>
        </p:txBody>
      </p:sp>
      <p:sp>
        <p:nvSpPr>
          <p:cNvPr id="12" name="Title 1"/>
          <p:cNvSpPr txBox="1"/>
          <p:nvPr/>
        </p:nvSpPr>
        <p:spPr>
          <a:xfrm>
            <a:off x="498475" y="3609340"/>
            <a:ext cx="4915535" cy="3378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80000"/>
              </a:lnSpc>
            </a:pPr>
            <a:r>
              <a:rPr lang="en-US" sz="1800" b="1" dirty="0">
                <a:solidFill>
                  <a:schemeClr val="bg1"/>
                </a:solidFill>
                <a:latin typeface="Century Gothic" panose="020B0502020202020204"/>
                <a:cs typeface="Century Gothic" panose="020B0502020202020204"/>
              </a:rPr>
              <a:t>Weekly Operasional Utility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498475" y="4022725"/>
            <a:ext cx="3772535" cy="417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Periode Agenda 12 - 18 Oktober 2026</a:t>
            </a:r>
          </a:p>
        </p:txBody>
      </p:sp>
      <p:sp>
        <p:nvSpPr>
          <p:cNvPr id="8" name="Rectangles 7"/>
          <p:cNvSpPr/>
          <p:nvPr/>
        </p:nvSpPr>
        <p:spPr>
          <a:xfrm flipV="1">
            <a:off x="583565" y="3947160"/>
            <a:ext cx="3105150" cy="781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Subtitle 2"/>
          <p:cNvSpPr txBox="1"/>
          <p:nvPr/>
        </p:nvSpPr>
        <p:spPr>
          <a:xfrm>
            <a:off x="500846" y="6083437"/>
            <a:ext cx="8323657" cy="466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 panose="020B0604020202020204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</a:pPr>
            <a:r>
              <a:rPr lang="en-US" sz="900" dirty="0">
                <a:solidFill>
                  <a:schemeClr val="bg1"/>
                </a:solidFill>
                <a:latin typeface="Open Sans" panose="020B0606030504020204"/>
                <a:cs typeface="Open Sans" panose="020B0606030504020204"/>
              </a:rPr>
              <a:t>PRESENTED BY:</a:t>
            </a:r>
          </a:p>
          <a:p>
            <a:pPr algn="l">
              <a:lnSpc>
                <a:spcPct val="110000"/>
              </a:lnSpc>
            </a:pPr>
            <a:r>
              <a:rPr lang="en-US" sz="900" dirty="0">
                <a:solidFill>
                  <a:schemeClr val="bg1"/>
                </a:solidFill>
                <a:latin typeface="Open Sans" panose="020B0606030504020204"/>
                <a:cs typeface="Open Sans" panose="020B0606030504020204"/>
              </a:rPr>
              <a:t>PT BUMI ALAM SEGAR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0465" y="74295"/>
            <a:ext cx="9144000" cy="328930"/>
          </a:xfrm>
        </p:spPr>
        <p:txBody>
          <a:bodyPr/>
          <a:lstStyle/>
          <a:p>
            <a:pPr algn="l"/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Key Performance Indicator Engineering Utility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-635" y="478155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10" name="Slide Number Placeholder 5"/>
          <p:cNvSpPr txBox="1"/>
          <p:nvPr/>
        </p:nvSpPr>
        <p:spPr>
          <a:xfrm>
            <a:off x="10033301" y="6494559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2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3" name="Pentagon 2"/>
          <p:cNvSpPr/>
          <p:nvPr/>
        </p:nvSpPr>
        <p:spPr>
          <a:xfrm>
            <a:off x="83185" y="50800"/>
            <a:ext cx="1144905" cy="369570"/>
          </a:xfrm>
          <a:prstGeom prst="homePlate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SMKP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197485" y="5819140"/>
            <a:ext cx="4662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*SMKP ENG until September 2026 Achieve</a:t>
            </a:r>
          </a:p>
        </p:txBody>
      </p:sp>
      <p:graphicFrame>
        <p:nvGraphicFramePr>
          <p:cNvPr id="5" name="Chart 4"/>
          <p:cNvGraphicFramePr/>
          <p:nvPr/>
        </p:nvGraphicFramePr>
        <p:xfrm>
          <a:off x="197485" y="895985"/>
          <a:ext cx="3819525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3353435" y="2049780"/>
            <a:ext cx="4603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accent3">
                    <a:lumMod val="50000"/>
                  </a:schemeClr>
                </a:solidFill>
              </a:rPr>
              <a:t>95%</a:t>
            </a:r>
          </a:p>
        </p:txBody>
      </p:sp>
      <p:graphicFrame>
        <p:nvGraphicFramePr>
          <p:cNvPr id="7" name="Chart 6"/>
          <p:cNvGraphicFramePr/>
          <p:nvPr/>
        </p:nvGraphicFramePr>
        <p:xfrm>
          <a:off x="4132580" y="895985"/>
          <a:ext cx="3815715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7395210" y="1852295"/>
            <a:ext cx="4603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accent3">
                    <a:lumMod val="50000"/>
                  </a:schemeClr>
                </a:solidFill>
              </a:rPr>
              <a:t>75</a:t>
            </a:r>
          </a:p>
        </p:txBody>
      </p:sp>
      <p:graphicFrame>
        <p:nvGraphicFramePr>
          <p:cNvPr id="9" name="Chart 8"/>
          <p:cNvGraphicFramePr/>
          <p:nvPr/>
        </p:nvGraphicFramePr>
        <p:xfrm>
          <a:off x="8063865" y="895985"/>
          <a:ext cx="3909695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5" name="Text Box 14"/>
          <p:cNvSpPr txBox="1"/>
          <p:nvPr/>
        </p:nvSpPr>
        <p:spPr>
          <a:xfrm>
            <a:off x="11499850" y="1852295"/>
            <a:ext cx="4603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accent3">
                    <a:lumMod val="50000"/>
                  </a:schemeClr>
                </a:solidFill>
              </a:rPr>
              <a:t>66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5705" y="74295"/>
            <a:ext cx="9144000" cy="328930"/>
          </a:xfrm>
        </p:spPr>
        <p:txBody>
          <a:bodyPr/>
          <a:lstStyle/>
          <a:p>
            <a:pPr algn="l"/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Key Performance Indicator Engineering Utility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-635" y="478155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15" name="Pentagon 14"/>
          <p:cNvSpPr/>
          <p:nvPr/>
        </p:nvSpPr>
        <p:spPr>
          <a:xfrm>
            <a:off x="83185" y="50800"/>
            <a:ext cx="1144905" cy="369570"/>
          </a:xfrm>
          <a:prstGeom prst="homePlate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05" y="556260"/>
            <a:ext cx="5934710" cy="6144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144895" y="560070"/>
            <a:ext cx="5934710" cy="6144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 Number Placeholder 5"/>
          <p:cNvSpPr txBox="1"/>
          <p:nvPr/>
        </p:nvSpPr>
        <p:spPr>
          <a:xfrm>
            <a:off x="10079021" y="6509799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3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21" name="Text Box 20"/>
          <p:cNvSpPr txBox="1"/>
          <p:nvPr/>
        </p:nvSpPr>
        <p:spPr>
          <a:xfrm>
            <a:off x="309245" y="3669030"/>
            <a:ext cx="5594985" cy="2974340"/>
          </a:xfrm>
          <a:prstGeom prst="rect">
            <a:avLst/>
          </a:prstGeom>
          <a:noFill/>
          <a:ln>
            <a:solidFill>
              <a:srgbClr val="008080"/>
            </a:solidFill>
          </a:ln>
        </p:spPr>
        <p:txBody>
          <a:bodyPr wrap="square" rtlCol="0">
            <a:noAutofit/>
          </a:bodyPr>
          <a:lstStyle/>
          <a:p>
            <a:r>
              <a:rPr lang="en-US" sz="1400" b="1"/>
              <a:t>Action Plan:</a:t>
            </a:r>
            <a:endParaRPr lang="en-US" sz="1200" b="1"/>
          </a:p>
        </p:txBody>
      </p:sp>
      <p:sp>
        <p:nvSpPr>
          <p:cNvPr id="42" name="Text Box 41"/>
          <p:cNvSpPr txBox="1"/>
          <p:nvPr/>
        </p:nvSpPr>
        <p:spPr>
          <a:xfrm>
            <a:off x="6275070" y="3669030"/>
            <a:ext cx="5703570" cy="2974340"/>
          </a:xfrm>
          <a:prstGeom prst="rect">
            <a:avLst/>
          </a:prstGeom>
          <a:noFill/>
          <a:ln>
            <a:solidFill>
              <a:srgbClr val="008080"/>
            </a:solidFill>
          </a:ln>
        </p:spPr>
        <p:txBody>
          <a:bodyPr wrap="square" rtlCol="0">
            <a:noAutofit/>
          </a:bodyPr>
          <a:lstStyle/>
          <a:p>
            <a:r>
              <a:rPr lang="en-US" sz="1200" b="1"/>
              <a:t>Action Plan:</a:t>
            </a:r>
          </a:p>
          <a:p>
            <a:pPr indent="0">
              <a:buNone/>
            </a:pPr>
            <a:endParaRPr lang="en-US" sz="1200" b="1"/>
          </a:p>
        </p:txBody>
      </p:sp>
      <p:graphicFrame>
        <p:nvGraphicFramePr>
          <p:cNvPr id="45" name="Table 44"/>
          <p:cNvGraphicFramePr/>
          <p:nvPr>
            <p:custDataLst>
              <p:tags r:id="rId1"/>
            </p:custDataLst>
          </p:nvPr>
        </p:nvGraphicFramePr>
        <p:xfrm>
          <a:off x="373380" y="3993515"/>
          <a:ext cx="5478780" cy="27432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2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0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6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Due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/>
                        <a:t>Penambahan prv steam to HW tank glukosa WRH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Progress 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200"/>
                        <a:t>Air overflow HW glukosa to tanki kondensat glukosa WRH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W2 Okt 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Tunggu EJO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/>
                        <a:t>Pemasangan sightglass untuk monitoring steam PRD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W4 Des 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Pengajuan MID baru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200"/>
                        <a:t>Penambahan pipa input tanki Kondensat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200"/>
                        <a:t>Done 4/5 (Review hasil)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200"/>
                        <a:t>Penggantian flow meter air Boiler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W4 Des 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Eta barang di BAS  13 Nov 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9" name="Table 48"/>
          <p:cNvGraphicFramePr/>
          <p:nvPr>
            <p:custDataLst>
              <p:tags r:id="rId2"/>
            </p:custDataLst>
          </p:nvPr>
        </p:nvGraphicFramePr>
        <p:xfrm>
          <a:off x="6378575" y="3993515"/>
          <a:ext cx="5478780" cy="264795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44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2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8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86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Due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>
                          <a:sym typeface="+mn-ea"/>
                        </a:rPr>
                        <a:t>Saving pemakain BB -&gt; </a:t>
                      </a:r>
                      <a:r>
                        <a:rPr lang="en-US" sz="1200" b="1">
                          <a:sym typeface="+mn-ea"/>
                        </a:rPr>
                        <a:t>trial penambahan zat additive BB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Pengajuan proposal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0">
                          <a:sym typeface="+mn-ea"/>
                        </a:rPr>
                        <a:t>Review </a:t>
                      </a:r>
                      <a:r>
                        <a:rPr lang="en-US" sz="1200" b="1">
                          <a:sym typeface="+mn-ea"/>
                        </a:rPr>
                        <a:t>selisih output </a:t>
                      </a:r>
                      <a:r>
                        <a:rPr lang="en-US" sz="1200" b="0">
                          <a:sym typeface="+mn-ea"/>
                        </a:rPr>
                        <a:t>Produksi</a:t>
                      </a:r>
                    </a:p>
                    <a:p>
                      <a:pPr algn="l">
                        <a:buNone/>
                      </a:pPr>
                      <a:r>
                        <a:rPr lang="en-US" sz="1200" b="0">
                          <a:sym typeface="+mn-ea"/>
                        </a:rPr>
                        <a:t>Operasional drain startup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QCP PRD, QC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/>
                        <a:t>Trial up pressure operated 5.5 ke 7.5 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W3 Sept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Progress trial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5705" y="74295"/>
            <a:ext cx="9144000" cy="328930"/>
          </a:xfrm>
        </p:spPr>
        <p:txBody>
          <a:bodyPr/>
          <a:lstStyle/>
          <a:p>
            <a:pPr algn="l"/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Key Performance Indicator Engineering Utility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-635" y="478155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15" name="Pentagon 14"/>
          <p:cNvSpPr/>
          <p:nvPr/>
        </p:nvSpPr>
        <p:spPr>
          <a:xfrm>
            <a:off x="83185" y="50800"/>
            <a:ext cx="1144905" cy="369570"/>
          </a:xfrm>
          <a:prstGeom prst="homePlate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05" y="556260"/>
            <a:ext cx="5934710" cy="6144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144895" y="560070"/>
            <a:ext cx="5934710" cy="6144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 Number Placeholder 5"/>
          <p:cNvSpPr txBox="1"/>
          <p:nvPr/>
        </p:nvSpPr>
        <p:spPr>
          <a:xfrm>
            <a:off x="10079021" y="6509799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4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33" name="Text Box 32"/>
          <p:cNvSpPr txBox="1"/>
          <p:nvPr/>
        </p:nvSpPr>
        <p:spPr>
          <a:xfrm>
            <a:off x="6249670" y="3656965"/>
            <a:ext cx="5728970" cy="2967355"/>
          </a:xfrm>
          <a:prstGeom prst="rect">
            <a:avLst/>
          </a:prstGeom>
          <a:noFill/>
          <a:ln>
            <a:solidFill>
              <a:srgbClr val="008080"/>
            </a:solidFill>
          </a:ln>
        </p:spPr>
        <p:txBody>
          <a:bodyPr wrap="square" rtlCol="0">
            <a:noAutofit/>
          </a:bodyPr>
          <a:lstStyle/>
          <a:p>
            <a:r>
              <a:rPr lang="en-US" sz="1200" b="1"/>
              <a:t>Action Plan: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38125" y="3660775"/>
            <a:ext cx="5728970" cy="2979420"/>
          </a:xfrm>
          <a:prstGeom prst="rect">
            <a:avLst/>
          </a:prstGeom>
          <a:noFill/>
          <a:ln>
            <a:solidFill>
              <a:srgbClr val="008080"/>
            </a:solidFill>
          </a:ln>
        </p:spPr>
        <p:txBody>
          <a:bodyPr wrap="square" rtlCol="0">
            <a:noAutofit/>
          </a:bodyPr>
          <a:lstStyle/>
          <a:p>
            <a:r>
              <a:rPr lang="en-US" sz="1200" b="1"/>
              <a:t>Action Plan:</a:t>
            </a:r>
          </a:p>
          <a:p>
            <a:pPr indent="0">
              <a:buNone/>
            </a:pPr>
            <a:endParaRPr lang="en-US" sz="1200" b="1"/>
          </a:p>
        </p:txBody>
      </p:sp>
      <p:graphicFrame>
        <p:nvGraphicFramePr>
          <p:cNvPr id="45" name="Table 44"/>
          <p:cNvGraphicFramePr/>
          <p:nvPr>
            <p:custDataLst>
              <p:tags r:id="rId1"/>
            </p:custDataLst>
          </p:nvPr>
        </p:nvGraphicFramePr>
        <p:xfrm>
          <a:off x="328295" y="3924935"/>
          <a:ext cx="5569585" cy="275590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Due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/>
                        <a:t>Penambahan prv steam to HW tank glukosa WRH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Progress 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200"/>
                        <a:t>Air overflow HW glukosa to tanki kondensat glukosa WRH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W2 Okt 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Tunggu EJO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/>
                        <a:t>Pemasangan sightglass untuk monitoring steam PRD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W4 Des 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Pengajuan MID baru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200"/>
                        <a:t>Penambahan pipa input tanki Kondensat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200"/>
                        <a:t>Done 4/5 (Review hasil)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80%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200"/>
                        <a:t>Penggantian flow meter air Boiler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W4 Des 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Eta barang di BAS  13 Nov 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/>
          <p:nvPr>
            <p:custDataLst>
              <p:tags r:id="rId2"/>
            </p:custDataLst>
          </p:nvPr>
        </p:nvGraphicFramePr>
        <p:xfrm>
          <a:off x="6338570" y="3940810"/>
          <a:ext cx="5569585" cy="268033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8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Due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sym typeface="+mn-ea"/>
                        </a:rPr>
                        <a:t>Project PLTS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Tunggu SLO terbit, dan pekerjaan tangga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90%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5705" y="74295"/>
            <a:ext cx="9144000" cy="328930"/>
          </a:xfrm>
        </p:spPr>
        <p:txBody>
          <a:bodyPr/>
          <a:lstStyle/>
          <a:p>
            <a:pPr algn="l"/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Key Performance Indicator Engineering Utility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-635" y="478155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15" name="Pentagon 14"/>
          <p:cNvSpPr/>
          <p:nvPr/>
        </p:nvSpPr>
        <p:spPr>
          <a:xfrm>
            <a:off x="83185" y="50800"/>
            <a:ext cx="1144905" cy="369570"/>
          </a:xfrm>
          <a:prstGeom prst="homePlate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05" y="556260"/>
            <a:ext cx="5934710" cy="6144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144895" y="559435"/>
            <a:ext cx="5934710" cy="6144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 Number Placeholder 5"/>
          <p:cNvSpPr txBox="1"/>
          <p:nvPr/>
        </p:nvSpPr>
        <p:spPr>
          <a:xfrm>
            <a:off x="10079021" y="6509799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5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6270625" y="3587115"/>
            <a:ext cx="5669915" cy="3039745"/>
          </a:xfrm>
          <a:prstGeom prst="rect">
            <a:avLst/>
          </a:prstGeom>
          <a:noFill/>
          <a:ln>
            <a:solidFill>
              <a:srgbClr val="008080"/>
            </a:solidFill>
          </a:ln>
        </p:spPr>
        <p:txBody>
          <a:bodyPr wrap="square" rtlCol="0">
            <a:noAutofit/>
          </a:bodyPr>
          <a:lstStyle/>
          <a:p>
            <a:r>
              <a:rPr lang="en-US" sz="1200" b="1"/>
              <a:t>Action Plan: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261620" y="3590925"/>
            <a:ext cx="5688330" cy="3035935"/>
          </a:xfrm>
          <a:prstGeom prst="rect">
            <a:avLst/>
          </a:prstGeom>
          <a:noFill/>
          <a:ln>
            <a:solidFill>
              <a:srgbClr val="008080"/>
            </a:solidFill>
          </a:ln>
        </p:spPr>
        <p:txBody>
          <a:bodyPr wrap="square" rtlCol="0">
            <a:noAutofit/>
          </a:bodyPr>
          <a:lstStyle/>
          <a:p>
            <a:r>
              <a:rPr lang="en-US" sz="1200" b="1"/>
              <a:t>Action Plan:</a:t>
            </a:r>
            <a:r>
              <a:rPr lang="en-US" sz="1000" b="1"/>
              <a:t> </a:t>
            </a:r>
          </a:p>
        </p:txBody>
      </p:sp>
      <p:graphicFrame>
        <p:nvGraphicFramePr>
          <p:cNvPr id="45" name="Table 44"/>
          <p:cNvGraphicFramePr/>
          <p:nvPr>
            <p:custDataLst>
              <p:tags r:id="rId1"/>
            </p:custDataLst>
          </p:nvPr>
        </p:nvGraphicFramePr>
        <p:xfrm>
          <a:off x="328295" y="3861435"/>
          <a:ext cx="5569585" cy="267589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3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Due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200" b="1">
                          <a:sym typeface="+mn-ea"/>
                        </a:rPr>
                        <a:t>Reuse air pit garam untuk air top up cooling tower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Wait Vendor Chemtech kirim proposal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2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sym typeface="+mn-ea"/>
                        </a:rPr>
                        <a:t>Reuse air pit garam </a:t>
                      </a:r>
                      <a:r>
                        <a:rPr lang="en-US" sz="1200">
                          <a:sym typeface="+mn-ea"/>
                        </a:rPr>
                        <a:t>untuk</a:t>
                      </a:r>
                      <a:r>
                        <a:rPr lang="en-US" sz="1200" b="1">
                          <a:sym typeface="+mn-ea"/>
                        </a:rPr>
                        <a:t> flush toilet &amp; penyiraman taman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W3 Agu 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Progress, Toilet dan taman PRD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Table 16"/>
          <p:cNvGraphicFramePr/>
          <p:nvPr>
            <p:custDataLst>
              <p:tags r:id="rId2"/>
            </p:custDataLst>
          </p:nvPr>
        </p:nvGraphicFramePr>
        <p:xfrm>
          <a:off x="6329680" y="3834765"/>
          <a:ext cx="5569585" cy="278320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0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1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Due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>
                          <a:sym typeface="+mn-ea"/>
                        </a:rPr>
                        <a:t>Aerasi hybrid</a:t>
                      </a:r>
                      <a:endParaRPr lang="en-US" sz="1200" b="1">
                        <a:sym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W1 Okt 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Sisa 1 aerasi 6 (prog perbaikan platform)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/>
                        <a:t>New Anaerob step 3 (debit 1-1.5m3)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W4 Sept 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Progress PR material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/>
                        <a:t>Elektrokoagulasi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W4 Okt 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Parsial MoC dan pengajuan MID baru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>
                          <a:sym typeface="+mn-ea"/>
                        </a:rPr>
                        <a:t>Optimalisasi</a:t>
                      </a:r>
                      <a:r>
                        <a:rPr lang="en-US" sz="1200" b="1">
                          <a:sym typeface="+mn-ea"/>
                        </a:rPr>
                        <a:t> influent COD </a:t>
                      </a:r>
                      <a:r>
                        <a:rPr lang="en-US" sz="1200">
                          <a:sym typeface="+mn-ea"/>
                        </a:rPr>
                        <a:t>WWTP</a:t>
                      </a:r>
                      <a:r>
                        <a:rPr lang="en-US" sz="1200" b="1">
                          <a:sym typeface="+mn-ea"/>
                        </a:rPr>
                        <a:t> &lt; 15rb ppm -&gt; semua air pre-rinse tdk masuk WWTP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Hasil trial Repro gagal</a:t>
                      </a:r>
                    </a:p>
                    <a:p>
                      <a:pPr algn="ctr">
                        <a:buNone/>
                      </a:pPr>
                      <a:r>
                        <a:rPr lang="en-US" sz="1200" b="1"/>
                        <a:t>Dedicated tank to WCP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5705" y="74295"/>
            <a:ext cx="9144000" cy="328930"/>
          </a:xfrm>
        </p:spPr>
        <p:txBody>
          <a:bodyPr/>
          <a:lstStyle/>
          <a:p>
            <a:pPr algn="l"/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Key Performance Indicator Engineering Utility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-635" y="478155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15" name="Pentagon 14"/>
          <p:cNvSpPr/>
          <p:nvPr/>
        </p:nvSpPr>
        <p:spPr>
          <a:xfrm>
            <a:off x="83185" y="50800"/>
            <a:ext cx="1144905" cy="369570"/>
          </a:xfrm>
          <a:prstGeom prst="homePlate">
            <a:avLst/>
          </a:prstGeom>
          <a:solidFill>
            <a:srgbClr val="008080"/>
          </a:solidFill>
          <a:ln>
            <a:solidFill>
              <a:srgbClr val="00808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Internal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05" y="556260"/>
            <a:ext cx="5934710" cy="6144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144895" y="559435"/>
            <a:ext cx="5934710" cy="61448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lide Number Placeholder 5"/>
          <p:cNvSpPr txBox="1"/>
          <p:nvPr/>
        </p:nvSpPr>
        <p:spPr>
          <a:xfrm>
            <a:off x="10079021" y="6509799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6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35" name="Text Box 34"/>
          <p:cNvSpPr txBox="1"/>
          <p:nvPr/>
        </p:nvSpPr>
        <p:spPr>
          <a:xfrm>
            <a:off x="6270625" y="3495040"/>
            <a:ext cx="5669915" cy="3129915"/>
          </a:xfrm>
          <a:prstGeom prst="rect">
            <a:avLst/>
          </a:prstGeom>
          <a:noFill/>
          <a:ln>
            <a:solidFill>
              <a:srgbClr val="008080"/>
            </a:solidFill>
          </a:ln>
        </p:spPr>
        <p:txBody>
          <a:bodyPr wrap="square" rtlCol="0">
            <a:noAutofit/>
          </a:bodyPr>
          <a:lstStyle/>
          <a:p>
            <a:r>
              <a:rPr lang="en-US" sz="1200" b="1">
                <a:sym typeface="+mn-ea"/>
              </a:rPr>
              <a:t>Action Plan:</a:t>
            </a:r>
            <a:endParaRPr lang="en-US" sz="1200" b="1"/>
          </a:p>
        </p:txBody>
      </p:sp>
      <p:sp>
        <p:nvSpPr>
          <p:cNvPr id="11" name="Text Box 10"/>
          <p:cNvSpPr txBox="1"/>
          <p:nvPr/>
        </p:nvSpPr>
        <p:spPr>
          <a:xfrm>
            <a:off x="261620" y="3495040"/>
            <a:ext cx="5688330" cy="3131820"/>
          </a:xfrm>
          <a:prstGeom prst="rect">
            <a:avLst/>
          </a:prstGeom>
          <a:noFill/>
          <a:ln>
            <a:solidFill>
              <a:srgbClr val="008080"/>
            </a:solidFill>
          </a:ln>
        </p:spPr>
        <p:txBody>
          <a:bodyPr wrap="square" rtlCol="0">
            <a:noAutofit/>
          </a:bodyPr>
          <a:lstStyle/>
          <a:p>
            <a:r>
              <a:rPr lang="en-US" sz="1200" b="1">
                <a:sym typeface="+mn-ea"/>
              </a:rPr>
              <a:t>Action Plan:</a:t>
            </a:r>
            <a:endParaRPr lang="en-US" sz="1000" b="1"/>
          </a:p>
        </p:txBody>
      </p:sp>
      <p:graphicFrame>
        <p:nvGraphicFramePr>
          <p:cNvPr id="10" name="Chart 9"/>
          <p:cNvGraphicFramePr/>
          <p:nvPr/>
        </p:nvGraphicFramePr>
        <p:xfrm>
          <a:off x="6270625" y="677545"/>
          <a:ext cx="5669280" cy="2726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Text Box 24"/>
          <p:cNvSpPr txBox="1"/>
          <p:nvPr/>
        </p:nvSpPr>
        <p:spPr>
          <a:xfrm>
            <a:off x="11449050" y="1943100"/>
            <a:ext cx="4603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accent3">
                    <a:lumMod val="50000"/>
                  </a:schemeClr>
                </a:solidFill>
              </a:rPr>
              <a:t>2.5%</a:t>
            </a:r>
          </a:p>
        </p:txBody>
      </p:sp>
      <p:graphicFrame>
        <p:nvGraphicFramePr>
          <p:cNvPr id="45" name="Table 44"/>
          <p:cNvGraphicFramePr/>
          <p:nvPr>
            <p:custDataLst>
              <p:tags r:id="rId1"/>
            </p:custDataLst>
          </p:nvPr>
        </p:nvGraphicFramePr>
        <p:xfrm>
          <a:off x="328295" y="3750310"/>
          <a:ext cx="5569585" cy="286321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3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29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3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Due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200">
                          <a:sym typeface="+mn-ea"/>
                        </a:rPr>
                        <a:t>Optimalisasi</a:t>
                      </a:r>
                      <a:r>
                        <a:rPr lang="en-US" sz="1200" b="1">
                          <a:sym typeface="+mn-ea"/>
                        </a:rPr>
                        <a:t> influent COD </a:t>
                      </a:r>
                      <a:r>
                        <a:rPr lang="en-US" sz="1200">
                          <a:sym typeface="+mn-ea"/>
                        </a:rPr>
                        <a:t>WWTP</a:t>
                      </a:r>
                      <a:r>
                        <a:rPr lang="en-US" sz="1200" b="1">
                          <a:sym typeface="+mn-ea"/>
                        </a:rPr>
                        <a:t> &lt; 15rb ppm -&gt; semua air pre-rinse tdk masuk WWTP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/>
                        <a:t>Hasil trial Repro gagal</a:t>
                      </a:r>
                    </a:p>
                    <a:p>
                      <a:pPr algn="ctr">
                        <a:buNone/>
                      </a:pPr>
                      <a:r>
                        <a:rPr lang="en-US" sz="1200" b="1"/>
                        <a:t>Dedicated tank to WCP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>
                          <a:sym typeface="+mn-ea"/>
                        </a:rPr>
                        <a:t>Trial uji chemical (dosis </a:t>
                      </a:r>
                      <a:r>
                        <a:rPr lang="en-US" sz="1200">
                          <a:sym typeface="+mn-ea"/>
                        </a:rPr>
                        <a:t>dan </a:t>
                      </a:r>
                      <a:r>
                        <a:rPr lang="en-US" sz="1200" b="1">
                          <a:sym typeface="+mn-ea"/>
                        </a:rPr>
                        <a:t>chmeical baru)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Hold, lebih murah chemical existing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/>
                        <a:t>New Anaerob step 3 (debit 1-1.5m3)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W4 Sept 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Progress PR material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/>
          <p:nvPr>
            <p:custDataLst>
              <p:tags r:id="rId2"/>
            </p:custDataLst>
          </p:nvPr>
        </p:nvGraphicFramePr>
        <p:xfrm>
          <a:off x="6297930" y="3783965"/>
          <a:ext cx="5569585" cy="268033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3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6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Due 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en-US" sz="1200" b="1">
                          <a:sym typeface="+mn-ea"/>
                        </a:rPr>
                        <a:t>Pemasangan Heater HW 10 Ton (For startup Retail)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Waiting design from Vendor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Chart 2"/>
          <p:cNvGraphicFramePr/>
          <p:nvPr/>
        </p:nvGraphicFramePr>
        <p:xfrm>
          <a:off x="261620" y="669290"/>
          <a:ext cx="56362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185" y="74295"/>
            <a:ext cx="9144000" cy="328930"/>
          </a:xfrm>
        </p:spPr>
        <p:txBody>
          <a:bodyPr/>
          <a:lstStyle/>
          <a:p>
            <a:pPr algn="l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KPI Engineering Utility (Confirm Acc. s.d September - 2026)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3335" y="466090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-69850" y="418465"/>
            <a:ext cx="1172718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b="1"/>
              <a:t>Data menggunakan data accounting sampai bulan September 2026</a:t>
            </a:r>
            <a:endParaRPr lang="en-US" sz="1200" b="1">
              <a:solidFill>
                <a:srgbClr val="FF0000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-57150" y="2379980"/>
            <a:ext cx="1172718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b="1"/>
              <a:t>Data menggunakan data accounting sampai bulan Agustus 2026, </a:t>
            </a:r>
            <a:r>
              <a:rPr lang="en-US" sz="1200" b="1">
                <a:solidFill>
                  <a:srgbClr val="FF0000"/>
                </a:solidFill>
              </a:rPr>
              <a:t> September 2026 menggunakan data tonase produksi</a:t>
            </a:r>
          </a:p>
        </p:txBody>
      </p:sp>
      <p:graphicFrame>
        <p:nvGraphicFramePr>
          <p:cNvPr id="18" name="Table 17"/>
          <p:cNvGraphicFramePr/>
          <p:nvPr/>
        </p:nvGraphicFramePr>
        <p:xfrm>
          <a:off x="13970" y="4551680"/>
          <a:ext cx="12152630" cy="221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8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75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82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794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801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801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80340"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Target KPI (Monthly)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PIC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10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Periode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3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Jan-26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Feb-26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Mar-26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Apr-26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Mei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Juni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Juli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Agustus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September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Oktober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Drop Steam(2)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Boiler &amp; Utility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Drop pressure  Angin (max 2)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41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Zero breakdown MDP (Max 2)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 (Mati Listrik PLN)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 (Dip Listrik)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 (Dip Listrik)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Improvement (3 Judul QCC)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Tuang Sludge ke boiler (ton)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WWTP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1.8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2.4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1,2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Drain Slury (25%)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32%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29%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32%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28%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35%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32%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36%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Sludge Content (20%)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23%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20%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20%</a:t>
                      </a: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Total Pengangkutan (4x Bulan)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Tonase Sludge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31.3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29.76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30.90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28.66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22.62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23.28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28.02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28.28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26.36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28.86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Improvement (3 Judul QCC)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 (2 lanjut)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/>
          <p:nvPr/>
        </p:nvGraphicFramePr>
        <p:xfrm>
          <a:off x="24130" y="629285"/>
          <a:ext cx="12142470" cy="861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9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8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9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79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85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88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388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6929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6929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Tahun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Hasil FG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Hasil Proses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Steam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Batubara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LISTRIK BAS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LISTRIK PRD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BB/FG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BB/Proses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Steam/10 FG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Steam/10 Proses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BB/Steam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Listrik BAS/10 FG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Listrik BAS/10 Proses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Listrik PRD/10 FG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Listrik PRD/10 Proses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2025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64.395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68.609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Arial" panose="020B0604020202020204" charset="-122"/>
                        </a:rPr>
                        <a:t>21.619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Arial" panose="020B0604020202020204" charset="-122"/>
                        </a:rPr>
                        <a:t>3.404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4.416.847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Arial" panose="020B0604020202020204" charset="-122"/>
                        </a:rPr>
                        <a:t>3.377.084 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52,9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49,6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3,36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3,15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157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686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644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524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492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2026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44.768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48.423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Arial" panose="020B0604020202020204" charset="-122"/>
                        </a:rPr>
                        <a:t>15.295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Arial" panose="020B0604020202020204" charset="-122"/>
                        </a:rPr>
                        <a:t>2.516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3.008.714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2.326.738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56,2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52,0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3,42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3,16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164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672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621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520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481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Rectangles 4"/>
          <p:cNvSpPr/>
          <p:nvPr/>
        </p:nvSpPr>
        <p:spPr>
          <a:xfrm>
            <a:off x="691515" y="668655"/>
            <a:ext cx="1753235" cy="806450"/>
          </a:xfrm>
          <a:prstGeom prst="rect">
            <a:avLst/>
          </a:prstGeom>
          <a:noFill/>
          <a:ln w="19050">
            <a:solidFill>
              <a:srgbClr val="C00000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/>
          <p:cNvGraphicFramePr/>
          <p:nvPr/>
        </p:nvGraphicFramePr>
        <p:xfrm>
          <a:off x="12700" y="1536065"/>
          <a:ext cx="7779385" cy="908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5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4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2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131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0345">
                <a:tc gridSpan="7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Perbandingan Output Perbulan dan Penggunaan Energi 2025 vs 2026 PT BAS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8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Tahun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Hasil FG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Hasil Proses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Steam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Batubara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LISTRIK BAS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LISTRIK PRD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2025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5366,3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5717,4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1801,6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283,7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368070,6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281423,7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2026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4974,2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5380,3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1699,4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279,5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334301,5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258526,5 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/>
          <p:nvPr/>
        </p:nvGraphicFramePr>
        <p:xfrm>
          <a:off x="2540" y="2598420"/>
          <a:ext cx="12178665" cy="1923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5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9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98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98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98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98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989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98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989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98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926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469900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45021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429260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42989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  <a:gridCol w="450215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429895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42926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51054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429260">
                  <a:extLst>
                    <a:ext uri="{9D8B030D-6E8A-4147-A177-3AD203B41FA5}">
                      <a16:colId xmlns:a16="http://schemas.microsoft.com/office/drawing/2014/main" val="20026"/>
                    </a:ext>
                  </a:extLst>
                </a:gridCol>
                <a:gridCol w="430530">
                  <a:extLst>
                    <a:ext uri="{9D8B030D-6E8A-4147-A177-3AD203B41FA5}">
                      <a16:colId xmlns:a16="http://schemas.microsoft.com/office/drawing/2014/main" val="20027"/>
                    </a:ext>
                  </a:extLst>
                </a:gridCol>
              </a:tblGrid>
              <a:tr h="412115">
                <a:tc row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Periode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Acounting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PPIC + PO khusus  (Ton)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1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BOILER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UTILITY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WWTP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Maintenance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E4D6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COST OPERASIONAL (JT)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3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Hasil Finish Good (BOX)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Hasil Finish Good (ton)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Hasil Proses (ton)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Hasil Finish Good (ton)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Hasil Proses (ton)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Steam (Max 2.8)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Batu Bara (Max 51.2)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Listrik (Max 510)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Kuota Fresh Water 5656 m3/bln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Baku Mutu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Realisasi Agenda min 95%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Boiler &amp; Utility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WWTP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Steam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Steam/ 10Finish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YTD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Steam/ 10 Proses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Batu Bara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BB/Finish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YTD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BB/Proses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BB/BOX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Max BB/  BOX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YTD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BB/Steam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ADB9C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Listrik PRD (Kwh)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Listrik/ 10Finish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YTD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Listrik/ 10Proses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TSS 400 ppm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COD 300 ppm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Jul 26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924173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5242,9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5731,2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5197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5589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1854,48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3,54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3,4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3,2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295,98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56,5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56,4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51,6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320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510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334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160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271524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518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511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473,8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7575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201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929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100 %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86,3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102,2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Agu 26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793462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4688,0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5057,7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4587,6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4869,1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1545,6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3,30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3,4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3,1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254,26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54,2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56,1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50,3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320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510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332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165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249518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532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513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493,3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7911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160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782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100 %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58,4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122,9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Sep 26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913471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5250,0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5474,3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5277,86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5473,15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1877,8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3,58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3,4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3,4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297,88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56,7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56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54,4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326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510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332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159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297601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567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520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543,6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6973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149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836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100 %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43,9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111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Okt 26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387542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2294,151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2128,211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765,6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3,34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3,4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3,6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150,8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65,7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57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70,9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389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510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334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197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123135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537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521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578,6 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3793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120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564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31,6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56,2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185" y="102235"/>
            <a:ext cx="9144000" cy="328930"/>
          </a:xfrm>
        </p:spPr>
        <p:txBody>
          <a:bodyPr/>
          <a:lstStyle/>
          <a:p>
            <a:pPr algn="l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Performance Engineering Utility (12 - 18 Okt 2026)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9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3335" y="466090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10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10" name="Slide Number Placeholder 5"/>
          <p:cNvSpPr txBox="1"/>
          <p:nvPr/>
        </p:nvSpPr>
        <p:spPr>
          <a:xfrm>
            <a:off x="10061241" y="6582189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8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309360" y="536575"/>
            <a:ext cx="0" cy="61791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Pentagon 18"/>
          <p:cNvSpPr/>
          <p:nvPr/>
        </p:nvSpPr>
        <p:spPr>
          <a:xfrm>
            <a:off x="55245" y="513715"/>
            <a:ext cx="6179185" cy="276860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ym typeface="+mn-ea"/>
              </a:rPr>
              <a:t>Boiler &amp; Utility</a:t>
            </a:r>
          </a:p>
        </p:txBody>
      </p:sp>
      <p:graphicFrame>
        <p:nvGraphicFramePr>
          <p:cNvPr id="40" name="Table 39"/>
          <p:cNvGraphicFramePr/>
          <p:nvPr>
            <p:custDataLst>
              <p:tags r:id="rId1"/>
            </p:custDataLst>
          </p:nvPr>
        </p:nvGraphicFramePr>
        <p:xfrm>
          <a:off x="19685" y="4671695"/>
          <a:ext cx="2522220" cy="2095500"/>
        </p:xfrm>
        <a:graphic>
          <a:graphicData uri="http://schemas.openxmlformats.org/drawingml/2006/table">
            <a:tbl>
              <a:tblPr/>
              <a:tblGrid>
                <a:gridCol w="88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0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4625">
                <a:tc grid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Operasional WS dan RO</a:t>
                      </a:r>
                    </a:p>
                  </a:txBody>
                  <a:tcPr marL="12700" marR="12700" marT="12700" anchor="b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Parameter</a:t>
                      </a:r>
                    </a:p>
                  </a:txBody>
                  <a:tcPr marL="12700" marR="12700" marT="12700" anchor="b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RO</a:t>
                      </a:r>
                    </a:p>
                  </a:txBody>
                  <a:tcPr marL="12700" marR="12700" marT="12700" anchor="b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WS 1</a:t>
                      </a:r>
                    </a:p>
                  </a:txBody>
                  <a:tcPr marL="12700" marR="12700" marT="12700" anchor="b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WS 2</a:t>
                      </a:r>
                    </a:p>
                  </a:txBody>
                  <a:tcPr marL="12700" marR="12700" marT="12700" anchor="b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Running hour (Jam)</a:t>
                      </a:r>
                    </a:p>
                  </a:txBody>
                  <a:tcPr marL="12700" marR="12700" marT="12700" anchor="b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67(40%)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35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36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TDS In(ppm)</a:t>
                      </a:r>
                    </a:p>
                  </a:txBody>
                  <a:tcPr marL="12700" marR="12700" marT="12700" anchor="b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500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430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430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TDS Out(ppm)</a:t>
                      </a:r>
                    </a:p>
                  </a:txBody>
                  <a:tcPr marL="12700" marR="12700" marT="12700" anchor="b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63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Calibri" panose="020F0502020204030204" charset="-122"/>
                        </a:rPr>
                        <a:t>500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Calibri" panose="020F0502020204030204" charset="-122"/>
                        </a:rPr>
                        <a:t>500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Hardness IN (ppm)</a:t>
                      </a:r>
                    </a:p>
                  </a:txBody>
                  <a:tcPr marL="12700" marR="12700" marT="12700" anchor="b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135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135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Hardness Out (ppm)</a:t>
                      </a:r>
                    </a:p>
                  </a:txBody>
                  <a:tcPr marL="12700" marR="12700" marT="12700" anchor="b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0 - 10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0 -15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pH</a:t>
                      </a:r>
                    </a:p>
                  </a:txBody>
                  <a:tcPr marL="12700" marR="12700" marT="12700" anchor="b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8.1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8.1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8.1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Penggunaan Garam</a:t>
                      </a:r>
                    </a:p>
                  </a:txBody>
                  <a:tcPr marL="12700" marR="12700" marT="12700" anchor="b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300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400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Anti Scalant(Liter)</a:t>
                      </a:r>
                    </a:p>
                  </a:txBody>
                  <a:tcPr marL="12700" marR="12700" marT="12700" anchor="b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SMBS(Kg)</a:t>
                      </a:r>
                    </a:p>
                  </a:txBody>
                  <a:tcPr marL="12700" marR="12700" marT="12700" anchor="b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-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Output Produk</a:t>
                      </a:r>
                    </a:p>
                  </a:txBody>
                  <a:tcPr marL="12700" marR="12700" marT="12700" anchor="b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200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711</a:t>
                      </a:r>
                    </a:p>
                  </a:txBody>
                  <a:tcPr marL="12700" marR="12700" marT="12700" anchor="ctr">
                    <a:lnL w="6350">
                      <a:solidFill>
                        <a:schemeClr val="tx1"/>
                      </a:solidFill>
                      <a:prstDash val="soli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>
                      <a:solidFill>
                        <a:schemeClr val="tx1"/>
                      </a:solidFill>
                      <a:prstDash val="solid"/>
                    </a:lnR>
                    <a:lnT w="6350">
                      <a:solidFill>
                        <a:schemeClr val="tx1"/>
                      </a:solidFill>
                      <a:prstDash val="solid"/>
                    </a:lnT>
                    <a:lnB w="635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/>
          <p:nvPr>
            <p:custDataLst>
              <p:tags r:id="rId2"/>
            </p:custDataLst>
          </p:nvPr>
        </p:nvGraphicFramePr>
        <p:xfrm>
          <a:off x="4501515" y="4762500"/>
          <a:ext cx="1747520" cy="825500"/>
        </p:xfrm>
        <a:graphic>
          <a:graphicData uri="http://schemas.openxmlformats.org/drawingml/2006/table">
            <a:tbl>
              <a:tblPr/>
              <a:tblGrid>
                <a:gridCol w="979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3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5100">
                <a:tc grid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Compressor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Unit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RH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DP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IR 55 / Dryer IR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  <a:sym typeface="+mn-ea"/>
                      </a:endParaRP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102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1.2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GA 37 / TR 15</a:t>
                      </a:r>
                      <a:endParaRPr lang="en-US" sz="700" b="0">
                        <a:solidFill>
                          <a:srgbClr val="000000"/>
                        </a:solidFill>
                        <a:latin typeface="Calibri" panose="020F0502020204030204" charset="-122"/>
                        <a:sym typeface="+mn-ea"/>
                      </a:endParaRP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144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1.2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GA55 / FX250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54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3.0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/>
          <p:nvPr>
            <p:custDataLst>
              <p:tags r:id="rId3"/>
            </p:custDataLst>
          </p:nvPr>
        </p:nvGraphicFramePr>
        <p:xfrm>
          <a:off x="2607310" y="4764405"/>
          <a:ext cx="1865630" cy="817880"/>
        </p:xfrm>
        <a:graphic>
          <a:graphicData uri="http://schemas.openxmlformats.org/drawingml/2006/table">
            <a:tbl>
              <a:tblPr/>
              <a:tblGrid>
                <a:gridCol w="621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7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pPr algn="ctr" fontAlgn="ctr"/>
                      <a:r>
                        <a:rPr sz="7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Unit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Suhu Out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7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Ampere</a:t>
                      </a:r>
                      <a:r>
                        <a:rPr lang="en-US" sz="7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algn="ctr" fontAlgn="ctr"/>
                      <a:r>
                        <a:rPr sz="7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AHU 1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22.0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15.8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80">
                <a:tc>
                  <a:txBody>
                    <a:bodyPr/>
                    <a:lstStyle/>
                    <a:p>
                      <a:pPr algn="ctr" fontAlgn="ctr"/>
                      <a:r>
                        <a:rPr sz="7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AHU 2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22.4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15.6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415">
                <a:tc>
                  <a:txBody>
                    <a:bodyPr/>
                    <a:lstStyle/>
                    <a:p>
                      <a:pPr algn="ctr" fontAlgn="ctr"/>
                      <a:r>
                        <a:rPr sz="7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AHU 3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19.2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15.9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385">
                <a:tc>
                  <a:txBody>
                    <a:bodyPr/>
                    <a:lstStyle/>
                    <a:p>
                      <a:pPr algn="ctr" fontAlgn="ctr"/>
                      <a:r>
                        <a:rPr sz="7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AHU 4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22.7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15.8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/>
          <p:nvPr>
            <p:custDataLst>
              <p:tags r:id="rId4"/>
            </p:custDataLst>
          </p:nvPr>
        </p:nvGraphicFramePr>
        <p:xfrm>
          <a:off x="4514850" y="5678170"/>
          <a:ext cx="1746885" cy="704215"/>
        </p:xfrm>
        <a:graphic>
          <a:graphicData uri="http://schemas.openxmlformats.org/drawingml/2006/table">
            <a:tbl>
              <a:tblPr/>
              <a:tblGrid>
                <a:gridCol w="1167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650"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Genset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9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Running hour (Jam)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0.5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Usage Solar (Liter)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/>
          <p:nvPr>
            <p:custDataLst>
              <p:tags r:id="rId5"/>
            </p:custDataLst>
          </p:nvPr>
        </p:nvGraphicFramePr>
        <p:xfrm>
          <a:off x="2590165" y="5652770"/>
          <a:ext cx="1883410" cy="939800"/>
        </p:xfrm>
        <a:graphic>
          <a:graphicData uri="http://schemas.openxmlformats.org/drawingml/2006/table">
            <a:tbl>
              <a:tblPr/>
              <a:tblGrid>
                <a:gridCol w="1271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960"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Cooling tower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Running Fan (unit)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Running Pump (unit)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AVE TDS (900)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chemeClr val="tx1"/>
                          </a:solidFill>
                          <a:latin typeface="Calibri" panose="020F0502020204030204" charset="-122"/>
                        </a:rPr>
                        <a:t>3060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9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AVE Hardness (70)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Pentagon 20"/>
          <p:cNvSpPr/>
          <p:nvPr/>
        </p:nvSpPr>
        <p:spPr>
          <a:xfrm flipH="1">
            <a:off x="6381750" y="529590"/>
            <a:ext cx="5721985" cy="276860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ym typeface="+mn-ea"/>
              </a:rPr>
              <a:t>WWTP</a:t>
            </a:r>
          </a:p>
        </p:txBody>
      </p:sp>
      <p:graphicFrame>
        <p:nvGraphicFramePr>
          <p:cNvPr id="9" name="Table 8"/>
          <p:cNvGraphicFramePr/>
          <p:nvPr>
            <p:custDataLst>
              <p:tags r:id="rId6"/>
            </p:custDataLst>
          </p:nvPr>
        </p:nvGraphicFramePr>
        <p:xfrm>
          <a:off x="36195" y="771525"/>
          <a:ext cx="2486660" cy="3849686"/>
        </p:xfrm>
        <a:graphic>
          <a:graphicData uri="http://schemas.openxmlformats.org/drawingml/2006/table">
            <a:tbl>
              <a:tblPr/>
              <a:tblGrid>
                <a:gridCol w="9410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2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 gridSpan="3">
                  <a:txBody>
                    <a:bodyPr/>
                    <a:lstStyle/>
                    <a:p>
                      <a:pPr algn="ctr" fontAlgn="t"/>
                      <a:r>
                        <a:rPr sz="9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KPI &amp; Performance Boiler 21T/H</a:t>
                      </a:r>
                    </a:p>
                  </a:txBody>
                  <a:tcPr marL="9842" marR="9842" marT="9842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890">
                <a:tc>
                  <a:txBody>
                    <a:bodyPr/>
                    <a:lstStyle/>
                    <a:p>
                      <a:pPr algn="l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Boiler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Target</a:t>
                      </a:r>
                    </a:p>
                  </a:txBody>
                  <a:tcPr marL="9842" marR="9842" marT="9842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Aktual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890">
                <a:tc>
                  <a:txBody>
                    <a:bodyPr/>
                    <a:lstStyle/>
                    <a:p>
                      <a:pPr algn="l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Steam/10 Finish Product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2.8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FF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3.6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76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Steam/10 Proses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2.8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FF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3.7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algn="l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Batu bara /Steam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160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FF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203.0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algn="l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Batu bara / Finish produk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51.2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FF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72.2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920">
                <a:tc>
                  <a:txBody>
                    <a:bodyPr/>
                    <a:lstStyle/>
                    <a:p>
                      <a:pPr algn="l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Batu bara / 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Proses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51.2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FF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75.5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9395">
                <a:tc>
                  <a:txBody>
                    <a:bodyPr/>
                    <a:lstStyle/>
                    <a:p>
                      <a:pPr algn="l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Condensate (%)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85%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FF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74%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AVG Tds Air Blowdown (ppm)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3500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3405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algn="l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AVG Sudut Api (°)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65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6525">
                <a:tc>
                  <a:txBody>
                    <a:bodyPr/>
                    <a:lstStyle/>
                    <a:p>
                      <a:pPr algn="l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Capacity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2-4 T/H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1 - 5T/H</a:t>
                      </a:r>
                      <a:endParaRPr sz="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7640">
                <a:tc gridSpan="3">
                  <a:txBody>
                    <a:bodyPr/>
                    <a:lstStyle/>
                    <a:p>
                      <a:pPr algn="l" fontAlgn="ctr"/>
                      <a:r>
                        <a:rPr sz="1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Utility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9070">
                <a:tc>
                  <a:txBody>
                    <a:bodyPr/>
                    <a:lstStyle/>
                    <a:p>
                      <a:pPr algn="l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Listrik/10 FG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510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FF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570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0030">
                <a:tc>
                  <a:txBody>
                    <a:bodyPr/>
                    <a:lstStyle/>
                    <a:p>
                      <a:pPr algn="l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Listrik/10 Proses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510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FF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596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1605">
                <a:tc>
                  <a:txBody>
                    <a:bodyPr/>
                    <a:lstStyle/>
                    <a:p>
                      <a:pPr algn="l" fontAlgn="ctr"/>
                      <a:r>
                        <a:rPr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Fresh Water</a:t>
                      </a: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(Okt 26)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6060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3793 (65%)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144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Output FG (Ton)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1022.1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1098.6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22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Output Proses (Ton)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1056.6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1049.7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66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Overtime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2.5 %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</a:rPr>
                        <a:t>1.5%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68" name="Text Box 67"/>
          <p:cNvSpPr txBox="1"/>
          <p:nvPr/>
        </p:nvSpPr>
        <p:spPr>
          <a:xfrm>
            <a:off x="6326505" y="4793615"/>
            <a:ext cx="293306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000" b="1">
                <a:sym typeface="+mn-ea"/>
              </a:rPr>
              <a:t>Nilai DO Aerasi &amp; Lumpur Aktif (std 2.5 ppm)</a:t>
            </a:r>
          </a:p>
        </p:txBody>
      </p:sp>
      <p:sp>
        <p:nvSpPr>
          <p:cNvPr id="70" name="Text Box 69"/>
          <p:cNvSpPr txBox="1"/>
          <p:nvPr/>
        </p:nvSpPr>
        <p:spPr>
          <a:xfrm>
            <a:off x="10204450" y="823595"/>
            <a:ext cx="1899285" cy="3016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sz="800" b="1"/>
              <a:t>Standar Permen LH no 5 Tahun 2014</a:t>
            </a:r>
          </a:p>
          <a:p>
            <a:pPr algn="ctr"/>
            <a:r>
              <a:rPr lang="en-US" sz="800" b="1">
                <a:sym typeface="+mn-ea"/>
              </a:rPr>
              <a:t>TSS   : 100 ppm  COD :  300 ppm</a:t>
            </a:r>
            <a:endParaRPr lang="en-US" sz="800" b="1"/>
          </a:p>
          <a:p>
            <a:pPr algn="ctr"/>
            <a:endParaRPr lang="en-US" sz="800" b="1"/>
          </a:p>
        </p:txBody>
      </p:sp>
      <p:sp>
        <p:nvSpPr>
          <p:cNvPr id="71" name="Text Box 70"/>
          <p:cNvSpPr txBox="1"/>
          <p:nvPr/>
        </p:nvSpPr>
        <p:spPr>
          <a:xfrm>
            <a:off x="6368415" y="6545580"/>
            <a:ext cx="547687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800" b="1">
                <a:sym typeface="+mn-ea"/>
              </a:rPr>
              <a:t>Note : 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6451600" y="2836545"/>
            <a:ext cx="396557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Note : week ini  tidak DAF Pre dan</a:t>
            </a:r>
            <a:r>
              <a:rPr lang="en-US" sz="1000" b="1"/>
              <a:t> Target 336 m3/week di 100%</a:t>
            </a:r>
          </a:p>
        </p:txBody>
      </p:sp>
      <p:sp>
        <p:nvSpPr>
          <p:cNvPr id="24" name="Text Box 23"/>
          <p:cNvSpPr txBox="1"/>
          <p:nvPr/>
        </p:nvSpPr>
        <p:spPr>
          <a:xfrm>
            <a:off x="6382385" y="4575175"/>
            <a:ext cx="323215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note : Masih belum dapetnya COD Di outlet  wwtp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596515" y="6635750"/>
            <a:ext cx="1941195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i="1">
                <a:solidFill>
                  <a:srgbClr val="FF0000"/>
                </a:solidFill>
              </a:rPr>
              <a:t>Note : Pertgl 2/6/2026 Anti Scalant CT dioff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10238740" y="1932305"/>
            <a:ext cx="7226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Equal</a:t>
            </a:r>
          </a:p>
        </p:txBody>
      </p:sp>
      <p:sp>
        <p:nvSpPr>
          <p:cNvPr id="41" name="Rectangles 16"/>
          <p:cNvSpPr/>
          <p:nvPr/>
        </p:nvSpPr>
        <p:spPr>
          <a:xfrm>
            <a:off x="10210165" y="1144905"/>
            <a:ext cx="544195" cy="10140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endParaRPr lang="en-US" sz="800"/>
          </a:p>
        </p:txBody>
      </p:sp>
      <p:sp>
        <p:nvSpPr>
          <p:cNvPr id="42" name="Text Box 41"/>
          <p:cNvSpPr txBox="1"/>
          <p:nvPr/>
        </p:nvSpPr>
        <p:spPr>
          <a:xfrm>
            <a:off x="10858500" y="1960880"/>
            <a:ext cx="7226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Anaerob</a:t>
            </a:r>
          </a:p>
        </p:txBody>
      </p:sp>
      <p:sp>
        <p:nvSpPr>
          <p:cNvPr id="43" name="Rectangles 27"/>
          <p:cNvSpPr/>
          <p:nvPr/>
        </p:nvSpPr>
        <p:spPr>
          <a:xfrm>
            <a:off x="10888345" y="1158875"/>
            <a:ext cx="544195" cy="10140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endParaRPr lang="en-US" sz="800"/>
          </a:p>
        </p:txBody>
      </p:sp>
      <p:sp>
        <p:nvSpPr>
          <p:cNvPr id="45" name="Text Box 44"/>
          <p:cNvSpPr txBox="1"/>
          <p:nvPr/>
        </p:nvSpPr>
        <p:spPr>
          <a:xfrm>
            <a:off x="11589385" y="1945640"/>
            <a:ext cx="7226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Aerob</a:t>
            </a:r>
          </a:p>
        </p:txBody>
      </p:sp>
      <p:sp>
        <p:nvSpPr>
          <p:cNvPr id="46" name="Rectangles 43"/>
          <p:cNvSpPr/>
          <p:nvPr/>
        </p:nvSpPr>
        <p:spPr>
          <a:xfrm>
            <a:off x="11545570" y="1158875"/>
            <a:ext cx="544195" cy="10140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endParaRPr lang="en-US" sz="800"/>
          </a:p>
        </p:txBody>
      </p:sp>
      <p:sp>
        <p:nvSpPr>
          <p:cNvPr id="47" name="Text Box 46"/>
          <p:cNvSpPr txBox="1"/>
          <p:nvPr/>
        </p:nvSpPr>
        <p:spPr>
          <a:xfrm>
            <a:off x="10503535" y="2991485"/>
            <a:ext cx="7226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DAF</a:t>
            </a:r>
          </a:p>
        </p:txBody>
      </p:sp>
      <p:sp>
        <p:nvSpPr>
          <p:cNvPr id="48" name="Rectangles 64"/>
          <p:cNvSpPr/>
          <p:nvPr/>
        </p:nvSpPr>
        <p:spPr>
          <a:xfrm>
            <a:off x="10446385" y="2203450"/>
            <a:ext cx="544195" cy="10140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endParaRPr lang="en-US" sz="800"/>
          </a:p>
        </p:txBody>
      </p:sp>
      <p:sp>
        <p:nvSpPr>
          <p:cNvPr id="49" name="Text Box 48"/>
          <p:cNvSpPr txBox="1"/>
          <p:nvPr/>
        </p:nvSpPr>
        <p:spPr>
          <a:xfrm>
            <a:off x="11176000" y="2987675"/>
            <a:ext cx="7226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Outlet</a:t>
            </a:r>
          </a:p>
        </p:txBody>
      </p:sp>
      <p:sp>
        <p:nvSpPr>
          <p:cNvPr id="50" name="Rectangles 66"/>
          <p:cNvSpPr/>
          <p:nvPr/>
        </p:nvSpPr>
        <p:spPr>
          <a:xfrm>
            <a:off x="11132185" y="2203450"/>
            <a:ext cx="544195" cy="101409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lstStyle/>
          <a:p>
            <a:endParaRPr lang="en-US" sz="80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92565" y="5108575"/>
            <a:ext cx="3041650" cy="163004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82385" y="5064760"/>
            <a:ext cx="2600960" cy="1473835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1115" y="3166110"/>
            <a:ext cx="2878455" cy="1352550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74175" y="3280410"/>
            <a:ext cx="2917190" cy="1739900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47100" y="823595"/>
            <a:ext cx="1633855" cy="2013585"/>
          </a:xfrm>
          <a:prstGeom prst="rect">
            <a:avLst/>
          </a:prstGeom>
        </p:spPr>
      </p:pic>
      <p:sp>
        <p:nvSpPr>
          <p:cNvPr id="81" name="Text Box 80"/>
          <p:cNvSpPr txBox="1"/>
          <p:nvPr/>
        </p:nvSpPr>
        <p:spPr>
          <a:xfrm>
            <a:off x="8909685" y="1959610"/>
            <a:ext cx="7766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100%</a:t>
            </a:r>
          </a:p>
        </p:txBody>
      </p:sp>
      <p:sp>
        <p:nvSpPr>
          <p:cNvPr id="73" name="Text Box 72"/>
          <p:cNvSpPr txBox="1"/>
          <p:nvPr/>
        </p:nvSpPr>
        <p:spPr>
          <a:xfrm>
            <a:off x="9499600" y="1522730"/>
            <a:ext cx="6896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0%</a:t>
            </a:r>
          </a:p>
        </p:txBody>
      </p:sp>
      <p:pic>
        <p:nvPicPr>
          <p:cNvPr id="33" name="Picture 32" descr="WhatsApp Image 2026-10-13 at 08.15.3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224135" y="1250950"/>
            <a:ext cx="516255" cy="674370"/>
          </a:xfrm>
          <a:prstGeom prst="rect">
            <a:avLst/>
          </a:prstGeom>
        </p:spPr>
      </p:pic>
      <p:pic>
        <p:nvPicPr>
          <p:cNvPr id="34" name="Picture 33" descr="WhatsApp Image 2026-10-13 at 08.14.5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932160" y="1318895"/>
            <a:ext cx="471170" cy="570865"/>
          </a:xfrm>
          <a:prstGeom prst="rect">
            <a:avLst/>
          </a:prstGeom>
        </p:spPr>
      </p:pic>
      <p:pic>
        <p:nvPicPr>
          <p:cNvPr id="39" name="Picture 38" descr="WhatsApp Image 2026-10-13 at 08.13.5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61445" y="1273175"/>
            <a:ext cx="513715" cy="628650"/>
          </a:xfrm>
          <a:prstGeom prst="rect">
            <a:avLst/>
          </a:prstGeom>
        </p:spPr>
      </p:pic>
      <p:pic>
        <p:nvPicPr>
          <p:cNvPr id="44" name="Picture 43" descr="WhatsApp Image 2026-10-13 at 08.12.2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75595" y="2378710"/>
            <a:ext cx="464820" cy="530860"/>
          </a:xfrm>
          <a:prstGeom prst="rect">
            <a:avLst/>
          </a:prstGeom>
        </p:spPr>
      </p:pic>
      <p:pic>
        <p:nvPicPr>
          <p:cNvPr id="51" name="Picture 50" descr="WhatsApp Image 2026-10-13 at 08.10.0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161395" y="2379980"/>
            <a:ext cx="483870" cy="611505"/>
          </a:xfrm>
          <a:prstGeom prst="rect">
            <a:avLst/>
          </a:prstGeom>
        </p:spPr>
      </p:pic>
      <p:pic>
        <p:nvPicPr>
          <p:cNvPr id="52" name="Picture 5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368415" y="822960"/>
            <a:ext cx="2280920" cy="2014220"/>
          </a:xfrm>
          <a:prstGeom prst="rect">
            <a:avLst/>
          </a:prstGeom>
        </p:spPr>
      </p:pic>
      <p:sp>
        <p:nvSpPr>
          <p:cNvPr id="79" name="Text Box 78"/>
          <p:cNvSpPr txBox="1"/>
          <p:nvPr/>
        </p:nvSpPr>
        <p:spPr>
          <a:xfrm>
            <a:off x="6685915" y="1671955"/>
            <a:ext cx="51625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29.2%</a:t>
            </a:r>
          </a:p>
        </p:txBody>
      </p:sp>
      <p:sp>
        <p:nvSpPr>
          <p:cNvPr id="77" name="Text Box 76"/>
          <p:cNvSpPr txBox="1"/>
          <p:nvPr/>
        </p:nvSpPr>
        <p:spPr>
          <a:xfrm>
            <a:off x="7026275" y="1685290"/>
            <a:ext cx="51625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14.4%</a:t>
            </a:r>
          </a:p>
        </p:txBody>
      </p:sp>
      <p:sp>
        <p:nvSpPr>
          <p:cNvPr id="78" name="Text Box 77"/>
          <p:cNvSpPr txBox="1"/>
          <p:nvPr/>
        </p:nvSpPr>
        <p:spPr>
          <a:xfrm>
            <a:off x="7392670" y="1477010"/>
            <a:ext cx="51625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2.7%</a:t>
            </a:r>
          </a:p>
        </p:txBody>
      </p:sp>
      <p:sp>
        <p:nvSpPr>
          <p:cNvPr id="76" name="Text Box 75"/>
          <p:cNvSpPr txBox="1"/>
          <p:nvPr/>
        </p:nvSpPr>
        <p:spPr>
          <a:xfrm>
            <a:off x="7703820" y="1730375"/>
            <a:ext cx="51625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22.9%</a:t>
            </a:r>
          </a:p>
        </p:txBody>
      </p:sp>
      <p:sp>
        <p:nvSpPr>
          <p:cNvPr id="75" name="Text Box 74"/>
          <p:cNvSpPr txBox="1"/>
          <p:nvPr/>
        </p:nvSpPr>
        <p:spPr>
          <a:xfrm>
            <a:off x="8030845" y="1569720"/>
            <a:ext cx="516255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31.1%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BF78CF-6D4C-4EF7-B868-90490CF71878}"/>
              </a:ext>
            </a:extLst>
          </p:cNvPr>
          <p:cNvSpPr/>
          <p:nvPr/>
        </p:nvSpPr>
        <p:spPr>
          <a:xfrm>
            <a:off x="2541905" y="1082041"/>
            <a:ext cx="3672836" cy="182753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{{</a:t>
            </a:r>
            <a:r>
              <a:rPr lang="en-US" dirty="0" err="1">
                <a:solidFill>
                  <a:schemeClr val="tx1"/>
                </a:solidFill>
              </a:rPr>
              <a:t>chart.bbsteam</a:t>
            </a:r>
            <a:r>
              <a:rPr lang="en-US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B874590-538F-4544-A146-F8F2EC53AA0D}"/>
              </a:ext>
            </a:extLst>
          </p:cNvPr>
          <p:cNvSpPr/>
          <p:nvPr/>
        </p:nvSpPr>
        <p:spPr>
          <a:xfrm>
            <a:off x="2543179" y="3201037"/>
            <a:ext cx="3672836" cy="1513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{{</a:t>
            </a:r>
            <a:r>
              <a:rPr lang="en-US" dirty="0" err="1">
                <a:solidFill>
                  <a:schemeClr val="tx1"/>
                </a:solidFill>
              </a:rPr>
              <a:t>chart.kondensat</a:t>
            </a:r>
            <a:r>
              <a:rPr lang="en-US" dirty="0">
                <a:solidFill>
                  <a:schemeClr val="tx1"/>
                </a:solidFill>
              </a:rPr>
              <a:t>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5FAE4A-AF3B-487B-9AA1-9B2B51300E84}"/>
              </a:ext>
            </a:extLst>
          </p:cNvPr>
          <p:cNvSpPr txBox="1"/>
          <p:nvPr/>
        </p:nvSpPr>
        <p:spPr>
          <a:xfrm>
            <a:off x="3614418" y="823595"/>
            <a:ext cx="15278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BB vs Steam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6CD264-3BCA-4A62-A773-2F4440E01690}"/>
              </a:ext>
            </a:extLst>
          </p:cNvPr>
          <p:cNvSpPr txBox="1"/>
          <p:nvPr/>
        </p:nvSpPr>
        <p:spPr>
          <a:xfrm>
            <a:off x="3609341" y="2961949"/>
            <a:ext cx="15278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 err="1"/>
              <a:t>Kondensat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3335" y="466090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79705" y="55880"/>
            <a:ext cx="8387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Update Highlight Issue Batubara Barkalin </a:t>
            </a:r>
            <a:r>
              <a:rPr lang="en-US" b="1">
                <a:solidFill>
                  <a:srgbClr val="FF0000"/>
                </a:solidFill>
              </a:rPr>
              <a:t>GR 11/09/2026</a:t>
            </a:r>
          </a:p>
        </p:txBody>
      </p:sp>
      <p:pic>
        <p:nvPicPr>
          <p:cNvPr id="3" name="Picture 2" descr="WhatsApp Image 2026-10-06 at 12.16.31"/>
          <p:cNvPicPr>
            <a:picLocks noChangeAspect="1"/>
          </p:cNvPicPr>
          <p:nvPr/>
        </p:nvPicPr>
        <p:blipFill>
          <a:blip r:embed="rId5"/>
          <a:srcRect t="12500" b="30138"/>
          <a:stretch>
            <a:fillRect/>
          </a:stretch>
        </p:blipFill>
        <p:spPr>
          <a:xfrm>
            <a:off x="2519045" y="593725"/>
            <a:ext cx="3012440" cy="2305050"/>
          </a:xfrm>
          <a:prstGeom prst="rect">
            <a:avLst/>
          </a:prstGeom>
        </p:spPr>
      </p:pic>
      <p:pic>
        <p:nvPicPr>
          <p:cNvPr id="6" name="Picture 5" descr="WhatsApp Image 2026-10-06 at 12.16.30"/>
          <p:cNvPicPr>
            <a:picLocks noChangeAspect="1"/>
          </p:cNvPicPr>
          <p:nvPr/>
        </p:nvPicPr>
        <p:blipFill>
          <a:blip r:embed="rId6"/>
          <a:srcRect l="12500" r="12500"/>
          <a:stretch>
            <a:fillRect/>
          </a:stretch>
        </p:blipFill>
        <p:spPr>
          <a:xfrm>
            <a:off x="140335" y="593725"/>
            <a:ext cx="2304415" cy="2304415"/>
          </a:xfrm>
          <a:prstGeom prst="rect">
            <a:avLst/>
          </a:prstGeom>
        </p:spPr>
      </p:pic>
      <p:pic>
        <p:nvPicPr>
          <p:cNvPr id="7" name="Picture 6" descr="WhatsApp Image 2026-10-06 at 12.16.31 (1)"/>
          <p:cNvPicPr>
            <a:picLocks noChangeAspect="1"/>
          </p:cNvPicPr>
          <p:nvPr/>
        </p:nvPicPr>
        <p:blipFill>
          <a:blip r:embed="rId7"/>
          <a:srcRect t="12500" b="12500"/>
          <a:stretch>
            <a:fillRect/>
          </a:stretch>
        </p:blipFill>
        <p:spPr>
          <a:xfrm>
            <a:off x="5633085" y="593725"/>
            <a:ext cx="2304415" cy="230441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40335" y="2998470"/>
            <a:ext cx="2304415" cy="3067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Kondisi BB di Stoker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2519045" y="2998470"/>
            <a:ext cx="3011805" cy="3067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Kondisi BB di Gudang BB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5633085" y="2998470"/>
            <a:ext cx="2303780" cy="3067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/>
              <a:t>Kondisi BB di Feeder</a:t>
            </a:r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13335" y="3419475"/>
            <a:ext cx="12038965" cy="19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Table 18"/>
          <p:cNvGraphicFramePr/>
          <p:nvPr/>
        </p:nvGraphicFramePr>
        <p:xfrm>
          <a:off x="140335" y="5239385"/>
          <a:ext cx="5570855" cy="126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7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4945">
                <a:tc grid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Perbandingan COA Batubara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Parameter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BB Lama 13/07/2026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 panose="020F0502020204030204" charset="-122"/>
                        </a:rPr>
                        <a:t>BB Baru 11/09/2026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Gross Caloric Value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5973 Kcal/Kg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libri" panose="020F0502020204030204" charset="-122"/>
                        </a:rPr>
                        <a:t>5873 Kcal/Kg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Fix Carbon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40,80%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libri" panose="020F0502020204030204" charset="-122"/>
                        </a:rPr>
                        <a:t>39,44%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Total Moisture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11,96%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highlight>
                            <a:srgbClr val="FFFF00"/>
                          </a:highlight>
                          <a:latin typeface="Calibri" panose="020F0502020204030204" charset="-122"/>
                        </a:rPr>
                        <a:t>7,91%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Persentase Size BB (&lt;2 mm)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18,73%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  <a:latin typeface="Calibri" panose="020F0502020204030204" charset="-122"/>
                        </a:rPr>
                        <a:t>32,01%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Box 19"/>
          <p:cNvSpPr txBox="1"/>
          <p:nvPr/>
        </p:nvSpPr>
        <p:spPr>
          <a:xfrm>
            <a:off x="8094345" y="537845"/>
            <a:ext cx="389763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/>
              <a:t>Problem:</a:t>
            </a:r>
          </a:p>
          <a:p>
            <a:r>
              <a:rPr lang="en-US" sz="1400"/>
              <a:t>Kedatangan BB tgl 11/09/2026 kondisi</a:t>
            </a:r>
            <a:r>
              <a:rPr lang="en-US" sz="1400" b="1"/>
              <a:t> sangat berpasir halus</a:t>
            </a:r>
            <a:r>
              <a:rPr lang="en-US" sz="1400"/>
              <a:t>. </a:t>
            </a:r>
          </a:p>
        </p:txBody>
      </p:sp>
      <p:graphicFrame>
        <p:nvGraphicFramePr>
          <p:cNvPr id="2" name="Table 1"/>
          <p:cNvGraphicFramePr/>
          <p:nvPr/>
        </p:nvGraphicFramePr>
        <p:xfrm>
          <a:off x="140335" y="3554095"/>
          <a:ext cx="5570855" cy="1524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46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4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86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1455">
                <a:tc grid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Komparasi Parameter Boiler dengan jenis BB berbeda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820">
                <a:tc row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Type BB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Input 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Output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2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ID fan (Hz)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Stoker (Hz)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Fd Fan (Hz)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Guillotine (mm)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Suhu Furnace (C)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Rata-Rata Output Pressure (Bar)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BB/Steam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16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Batu Hitam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14,5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114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166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5,7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152,9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latin typeface="Calibri" panose="020F0502020204030204" charset="-122"/>
                        </a:rPr>
                        <a:t>Barkalin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latin typeface="Calibri" panose="020F0502020204030204" charset="-122"/>
                        </a:rPr>
                        <a:t>18,7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latin typeface="Calibri" panose="020F0502020204030204" charset="-122"/>
                        </a:rPr>
                        <a:t>18,1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latin typeface="Calibri" panose="020F0502020204030204" charset="-122"/>
                        </a:rPr>
                        <a:t>14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latin typeface="Calibri" panose="020F0502020204030204" charset="-122"/>
                        </a:rPr>
                        <a:t>140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latin typeface="Calibri" panose="020F0502020204030204" charset="-122"/>
                        </a:rPr>
                        <a:t>169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latin typeface="Calibri" panose="020F0502020204030204" charset="-122"/>
                        </a:rPr>
                        <a:t>5,6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0000"/>
                          </a:solidFill>
                          <a:latin typeface="Calibri" panose="020F0502020204030204" charset="-122"/>
                        </a:rPr>
                        <a:t>197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4" name="Chart 13"/>
          <p:cNvGraphicFramePr/>
          <p:nvPr/>
        </p:nvGraphicFramePr>
        <p:xfrm>
          <a:off x="5856605" y="3554095"/>
          <a:ext cx="6156325" cy="13347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2315" y="5047615"/>
            <a:ext cx="6130290" cy="1225550"/>
          </a:xfrm>
          <a:prstGeom prst="rect">
            <a:avLst/>
          </a:prstGeom>
        </p:spPr>
      </p:pic>
      <p:sp>
        <p:nvSpPr>
          <p:cNvPr id="21" name="Text Box 20"/>
          <p:cNvSpPr txBox="1"/>
          <p:nvPr/>
        </p:nvSpPr>
        <p:spPr>
          <a:xfrm>
            <a:off x="5771515" y="4832985"/>
            <a:ext cx="61315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/>
              <a:t>Limbah boiler meningkat dengan BB ini dari rata-ratq 30 % ke angka 41,89 %</a:t>
            </a:r>
          </a:p>
        </p:txBody>
      </p:sp>
      <p:sp>
        <p:nvSpPr>
          <p:cNvPr id="23" name="Text Box 22"/>
          <p:cNvSpPr txBox="1"/>
          <p:nvPr/>
        </p:nvSpPr>
        <p:spPr>
          <a:xfrm>
            <a:off x="5771515" y="6299835"/>
            <a:ext cx="61315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/>
              <a:t>Pressure tidak stabil dengan 46 % berada dibawah 5 bar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/>
              <a:t>Kesulitan up pressure steam terhadap sett point</a:t>
            </a:r>
          </a:p>
        </p:txBody>
      </p:sp>
      <p:graphicFrame>
        <p:nvGraphicFramePr>
          <p:cNvPr id="13" name="Chart 12"/>
          <p:cNvGraphicFramePr/>
          <p:nvPr/>
        </p:nvGraphicFramePr>
        <p:xfrm>
          <a:off x="8122285" y="1264920"/>
          <a:ext cx="3856355" cy="15417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15" name="Text Box 14"/>
          <p:cNvSpPr txBox="1"/>
          <p:nvPr/>
        </p:nvSpPr>
        <p:spPr>
          <a:xfrm>
            <a:off x="8091805" y="2898140"/>
            <a:ext cx="3915410" cy="460375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en-US" sz="1200"/>
              <a:t>Penggunaan BB harian</a:t>
            </a:r>
            <a:r>
              <a:rPr lang="en-US" sz="1200" b="1"/>
              <a:t> meningkat 2,6 ton/hari</a:t>
            </a:r>
            <a:r>
              <a:rPr lang="en-US" sz="1200"/>
              <a:t> , dari rata2 sebelum di angka</a:t>
            </a:r>
            <a:r>
              <a:rPr lang="en-US" sz="1200" b="1"/>
              <a:t> 10,9 ton/hari</a:t>
            </a:r>
            <a:r>
              <a:rPr lang="en-US" sz="1200"/>
              <a:t> menjadi </a:t>
            </a:r>
            <a:r>
              <a:rPr lang="en-US" sz="1200" b="1"/>
              <a:t>13,5 ton/hari.</a:t>
            </a:r>
          </a:p>
        </p:txBody>
      </p:sp>
      <p:sp>
        <p:nvSpPr>
          <p:cNvPr id="16" name="Up Arrow 15"/>
          <p:cNvSpPr/>
          <p:nvPr/>
        </p:nvSpPr>
        <p:spPr>
          <a:xfrm>
            <a:off x="11817985" y="3888740"/>
            <a:ext cx="172720" cy="332105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185" y="74295"/>
            <a:ext cx="9144000" cy="328930"/>
          </a:xfrm>
        </p:spPr>
        <p:txBody>
          <a:bodyPr/>
          <a:lstStyle/>
          <a:p>
            <a:pPr algn="l"/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Issue Selisih Pressure Steam Boiler VS Produksi</a:t>
            </a:r>
            <a:endParaRPr lang="en-US" altLang="en-US" sz="1600" b="1" dirty="0">
              <a:solidFill>
                <a:schemeClr val="accent6"/>
              </a:solidFill>
              <a:latin typeface="Arial" panose="020B0604020202020204" pitchFamily="34" charset="0"/>
              <a:cs typeface="Century Gothic" panose="020B0502020202020204"/>
              <a:sym typeface="+mn-ea"/>
            </a:endParaRPr>
          </a:p>
        </p:txBody>
      </p:sp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3335" y="466090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9" name="Slide Number Placeholder 5"/>
          <p:cNvSpPr txBox="1"/>
          <p:nvPr/>
        </p:nvSpPr>
        <p:spPr>
          <a:xfrm>
            <a:off x="10033301" y="6494559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10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83185" y="2668270"/>
          <a:ext cx="4406265" cy="280574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93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9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1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1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0500">
                <a:tc gridSpan="5">
                  <a:txBody>
                    <a:bodyPr/>
                    <a:lstStyle/>
                    <a:p>
                      <a:pPr algn="ctr" fontAlgn="ctr"/>
                      <a:r>
                        <a:rPr sz="1200" b="1"/>
                        <a:t>Summary Hasil Verifikasi Delta P steam PRD dan Boiler</a:t>
                      </a:r>
                      <a:r>
                        <a:rPr lang="en-US" sz="1200" b="1"/>
                        <a:t> 21/10/2026</a:t>
                      </a:r>
                    </a:p>
                  </a:txBody>
                  <a:tcPr marL="9842" marR="9842" marT="9842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sz="1200" b="1"/>
                        <a:t>No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/>
                        <a:t>Titik Pengecekan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/>
                        <a:t>Selisih Awal OFF</a:t>
                      </a:r>
                      <a:r>
                        <a:rPr lang="en-US" sz="1200" b="1"/>
                        <a:t> </a:t>
                      </a:r>
                      <a:r>
                        <a:rPr sz="1200" b="1"/>
                        <a:t>(Bar)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/>
                        <a:t>Selisih setelah ON (Bar)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/>
                        <a:t>Selisih Pressure</a:t>
                      </a:r>
                      <a:r>
                        <a:rPr lang="en-US" sz="1200" b="1"/>
                        <a:t> (Bar)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1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200"/>
                        <a:t>Tanki 10 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1.2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1.3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0.1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2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200"/>
                        <a:t>Dissolver 1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0.48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0.54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0.06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3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200"/>
                        <a:t>Dissolver 2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0.52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0.62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0.1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4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Dissolver 3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0.53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0.85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0.32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Dissolver 4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0.5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0.83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0.33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200"/>
                        <a:t>Dissolver 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0.54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0.54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0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7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Dissolver 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0.46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0.71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0.25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8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Dissolver 7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0.4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0.74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0.34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9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Dissolver 8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0.36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0.7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</a:rPr>
                        <a:t>0.34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4795"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10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200"/>
                        <a:t>HW glukosa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1.48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1.6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/>
                        <a:t>0.12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8125">
                <a:tc gridSpan="4"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</a:t>
                      </a:r>
                    </a:p>
                  </a:txBody>
                  <a:tcPr marL="9842" marR="9842" marT="9842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1.96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5" y="650875"/>
            <a:ext cx="4406265" cy="1927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7925" y="528955"/>
            <a:ext cx="3217545" cy="824230"/>
          </a:xfrm>
          <a:prstGeom prst="rect">
            <a:avLst/>
          </a:prstGeom>
        </p:spPr>
      </p:pic>
      <p:pic>
        <p:nvPicPr>
          <p:cNvPr id="10" name="Picture 9" descr="Update"/>
          <p:cNvPicPr>
            <a:picLocks noChangeAspect="1"/>
          </p:cNvPicPr>
          <p:nvPr/>
        </p:nvPicPr>
        <p:blipFill>
          <a:blip r:embed="rId7"/>
          <a:srcRect b="20145"/>
          <a:stretch>
            <a:fillRect/>
          </a:stretch>
        </p:blipFill>
        <p:spPr>
          <a:xfrm>
            <a:off x="4592320" y="529688"/>
            <a:ext cx="7486650" cy="403352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rcRect l="25778" t="30935" b="10250"/>
          <a:stretch>
            <a:fillRect/>
          </a:stretch>
        </p:blipFill>
        <p:spPr>
          <a:xfrm>
            <a:off x="6290310" y="3520440"/>
            <a:ext cx="1441450" cy="1523365"/>
          </a:xfrm>
          <a:prstGeom prst="rect">
            <a:avLst/>
          </a:prstGeom>
        </p:spPr>
      </p:pic>
      <p:cxnSp>
        <p:nvCxnSpPr>
          <p:cNvPr id="13" name="Curved Connector 12"/>
          <p:cNvCxnSpPr>
            <a:endCxn id="11" idx="1"/>
          </p:cNvCxnSpPr>
          <p:nvPr/>
        </p:nvCxnSpPr>
        <p:spPr>
          <a:xfrm>
            <a:off x="4688205" y="3209925"/>
            <a:ext cx="1602105" cy="1072515"/>
          </a:xfrm>
          <a:prstGeom prst="curvedConnector3">
            <a:avLst>
              <a:gd name="adj1" fmla="val 475"/>
            </a:avLst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489450" y="2690495"/>
            <a:ext cx="563245" cy="779145"/>
          </a:xfrm>
          <a:prstGeom prst="ellipse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7843520" y="4530725"/>
            <a:ext cx="413512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000"/>
              <a:t>Suhu pada jalur return Kondensat jalur 2</a:t>
            </a:r>
            <a:r>
              <a:rPr lang="en-US" altLang="en-US" sz="1000" b="1"/>
              <a:t> bersuhu tinggi </a:t>
            </a:r>
            <a:r>
              <a:rPr lang="en-US" altLang="en-US" sz="1000" b="1">
                <a:solidFill>
                  <a:srgbClr val="FF0000"/>
                </a:solidFill>
              </a:rPr>
              <a:t>&gt;120  dC</a:t>
            </a:r>
            <a:r>
              <a:rPr lang="en-US" altLang="en-US" sz="1000" b="1"/>
              <a:t> (abnormal)</a:t>
            </a:r>
            <a:r>
              <a:rPr lang="en-US" altLang="en-US" sz="1000"/>
              <a:t> -&gt; cek detail cukup sulit karena banyak instrumen dalam 1 jalur yg indikasi bocor.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7731760" y="4254500"/>
            <a:ext cx="276225" cy="32766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Text Box 16"/>
          <p:cNvSpPr txBox="1"/>
          <p:nvPr/>
        </p:nvSpPr>
        <p:spPr>
          <a:xfrm>
            <a:off x="83185" y="5488940"/>
            <a:ext cx="516826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1200" b="1"/>
              <a:t>Problem Issue</a:t>
            </a:r>
            <a:endParaRPr lang="en-US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/>
              <a:t>Penyumbang </a:t>
            </a:r>
            <a:r>
              <a:rPr lang="en-US" altLang="en-US" sz="1200" b="1"/>
              <a:t>selisih terbesar dari dissolver,</a:t>
            </a:r>
            <a:r>
              <a:rPr lang="en-US" altLang="en-US" sz="1200"/>
              <a:t> potensi dari </a:t>
            </a:r>
            <a:r>
              <a:rPr lang="en-US" altLang="en-US" sz="1200" b="1"/>
              <a:t>steam trap tidak perform</a:t>
            </a:r>
            <a:r>
              <a:rPr lang="en-US" altLang="en-US" sz="1200"/>
              <a:t> / </a:t>
            </a:r>
            <a:r>
              <a:rPr lang="en-US" altLang="en-US" sz="1200" b="1"/>
              <a:t>valve bypass </a:t>
            </a:r>
            <a:r>
              <a:rPr lang="en-US" altLang="en-US" sz="1200"/>
              <a:t>status sudah tertutup tapi </a:t>
            </a:r>
            <a:r>
              <a:rPr lang="en-US" altLang="en-US" sz="1200" b="1"/>
              <a:t>tidak bisa rapat</a:t>
            </a:r>
            <a:endParaRPr lang="en-US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/>
              <a:t>Perlu dicek coil </a:t>
            </a:r>
            <a:r>
              <a:rPr lang="en-US" altLang="en-US" sz="1200" b="1"/>
              <a:t>HW 10 ton</a:t>
            </a:r>
            <a:r>
              <a:rPr lang="en-US" altLang="en-US" sz="1200"/>
              <a:t> karena seperti ada </a:t>
            </a:r>
            <a:r>
              <a:rPr lang="en-US" altLang="en-US" sz="1200" b="1"/>
              <a:t>bocoran halus</a:t>
            </a:r>
            <a:endParaRPr lang="en-US" altLang="en-US" sz="12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200"/>
              <a:t>Untuk steam trap jalur </a:t>
            </a:r>
            <a:r>
              <a:rPr lang="en-US" altLang="en-US" sz="1200" b="1"/>
              <a:t>pasteur line 2 </a:t>
            </a:r>
            <a:r>
              <a:rPr lang="en-US" altLang="en-US" sz="1200"/>
              <a:t>juga perlu dicek karena suhu out mencapai </a:t>
            </a:r>
            <a:r>
              <a:rPr lang="en-US" altLang="en-US" sz="1200" b="1"/>
              <a:t>110 dC.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5140" y="5043805"/>
            <a:ext cx="1649095" cy="1203325"/>
          </a:xfrm>
          <a:prstGeom prst="rect">
            <a:avLst/>
          </a:prstGeom>
        </p:spPr>
      </p:pic>
      <p:sp>
        <p:nvSpPr>
          <p:cNvPr id="19" name="Text Box 18"/>
          <p:cNvSpPr txBox="1"/>
          <p:nvPr/>
        </p:nvSpPr>
        <p:spPr>
          <a:xfrm>
            <a:off x="5251450" y="5451475"/>
            <a:ext cx="3578225" cy="95313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1400" b="1"/>
              <a:t>Action Plan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 b="1"/>
              <a:t>Penggantian instrument yg abnormal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 b="1"/>
              <a:t>Repair kebocoran pipa coil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400" b="1"/>
              <a:t>Menghilangkan penggunaan direct steam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8924925" y="6247130"/>
            <a:ext cx="27876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buFont typeface="Arial" panose="020B0604020202020204" pitchFamily="34" charset="0"/>
              <a:buNone/>
            </a:pPr>
            <a:r>
              <a:rPr lang="en-US" altLang="en-US" sz="1200"/>
              <a:t>Coil </a:t>
            </a:r>
            <a:r>
              <a:rPr lang="en-US" altLang="en-US" sz="1200" b="1"/>
              <a:t>HW 10 ton</a:t>
            </a:r>
            <a:r>
              <a:rPr lang="en-US" altLang="en-US" sz="1200"/>
              <a:t> indikasi </a:t>
            </a:r>
            <a:r>
              <a:rPr lang="en-US" altLang="en-US" sz="1200" b="1"/>
              <a:t>bocoran halus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3335" y="466090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179705" y="55880"/>
            <a:ext cx="6228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Action Plan Effisiensi Boiler</a:t>
            </a:r>
          </a:p>
        </p:txBody>
      </p:sp>
      <p:graphicFrame>
        <p:nvGraphicFramePr>
          <p:cNvPr id="3" name="Table 2"/>
          <p:cNvGraphicFramePr/>
          <p:nvPr/>
        </p:nvGraphicFramePr>
        <p:xfrm>
          <a:off x="133350" y="514350"/>
          <a:ext cx="5983605" cy="6170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8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5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5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32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Masalah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Action Plan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PIC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Target Waktu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Progress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%Progress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2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Fuel/steam terlalu tinggi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Validasi flowmeter steam dan penimbangan batubara; hitung fuel/steam harian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Boiler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Fabrikasi jalur 25 Okt 26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Proses PR dan kalibrasi terkait FM steam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15%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8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O2 flue gas terlalu tinggi / belum tervalidasi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Repair/kalibrasi analyzer; lakukan combustion test dengan O2 + CO + CO2 bila tersedia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Boiler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Segera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Harga sensor oxigen 190jt </a:t>
                      </a:r>
                    </a:p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Cari opsi lain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5%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28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Potensi air leakage pada furnace/ducting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Periksa inspection door, manhole, refractory, expansion joint, ducting, casing dan seal; lakukan smoke test/pressure check sesuai prosedur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Boiler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 minggu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Seal corong bottom ash dengan air &gt;&gt; done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80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Bottom ash masih memiliki nilai kalor tinggi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Ukur massa bottom ash kg/hari dan lakukan sampling GCV/LOI yang representatif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Boiler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 minggu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Naikkan Pengajuan Zat Addictive -&gt; Proposal blm di Approved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35%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94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Distribusi udara pembakaran belum optimal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Periksa primary/secondary air, distribusi undergrate air, damper, grate condition dan seal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Boiler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1–2 minggu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Proses Naik PR untuk Pembelian Unit Sensor Oxygen Baru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5%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120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Kemungkinan grate speed / fuel bed tidak optimal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Catat grate speed, ketebalan bed, ukuran batubara, fines, dan kondisi pembakaran; lakukan trial terkontrol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Boiler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1–2 minggu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Pembuatan Matriks Speed Chaingrate Boiler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80%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Ukuran dan kualitas batubara perlu dikontrol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Sampling GCV, moisture, ash, volatile matter, fixed carbon dan particle size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Boiler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 minggu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Uji ke SMU pada W3 agustus 2026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100%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Flue gas temperature perlu dipantau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Trend temperatur flue gas pada load yang sama; inspeksi soot/fouling tube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Boiler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1–2 </a:t>
                      </a:r>
                      <a:r>
                        <a:rPr lang="en-US" sz="14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minggu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Proses penggantian TT flue gas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25%</a:t>
                      </a: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cxnSp>
        <p:nvCxnSpPr>
          <p:cNvPr id="2" name="Straight Connector 1"/>
          <p:cNvCxnSpPr/>
          <p:nvPr/>
        </p:nvCxnSpPr>
        <p:spPr>
          <a:xfrm>
            <a:off x="6219190" y="499745"/>
            <a:ext cx="0" cy="623062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6237605" y="426720"/>
            <a:ext cx="49409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Agenda Autonomous Maintenance Boiler</a:t>
            </a:r>
          </a:p>
        </p:txBody>
      </p:sp>
      <p:sp>
        <p:nvSpPr>
          <p:cNvPr id="17" name="Text Box 16"/>
          <p:cNvSpPr txBox="1"/>
          <p:nvPr/>
        </p:nvSpPr>
        <p:spPr>
          <a:xfrm>
            <a:off x="6296660" y="3974465"/>
            <a:ext cx="1143000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Penggecekan Guillotine Boiler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7467600" y="3974465"/>
            <a:ext cx="1112520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Cek Kondisi Furnace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8599805" y="3940175"/>
            <a:ext cx="1094105" cy="5067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Cleaning Back &amp; front Chamber Boiler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9815195" y="4043680"/>
            <a:ext cx="1143000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Cleaning Bak Wet Ash</a:t>
            </a:r>
          </a:p>
        </p:txBody>
      </p:sp>
      <p:sp>
        <p:nvSpPr>
          <p:cNvPr id="23" name="Text Box 22"/>
          <p:cNvSpPr txBox="1"/>
          <p:nvPr/>
        </p:nvSpPr>
        <p:spPr>
          <a:xfrm>
            <a:off x="6310630" y="5638800"/>
            <a:ext cx="1143635" cy="460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/>
              <a:t>Pengecekan Putaran stoker dan cek aksesoris </a:t>
            </a:r>
          </a:p>
        </p:txBody>
      </p:sp>
      <p:sp>
        <p:nvSpPr>
          <p:cNvPr id="24" name="Text Box 23"/>
          <p:cNvSpPr txBox="1"/>
          <p:nvPr/>
        </p:nvSpPr>
        <p:spPr>
          <a:xfrm>
            <a:off x="7524115" y="5684520"/>
            <a:ext cx="1027430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Lubrikasi Roller Conveyor Boiler</a:t>
            </a:r>
          </a:p>
        </p:txBody>
      </p:sp>
      <p:sp>
        <p:nvSpPr>
          <p:cNvPr id="25" name="Text Box 24"/>
          <p:cNvSpPr txBox="1"/>
          <p:nvPr/>
        </p:nvSpPr>
        <p:spPr>
          <a:xfrm>
            <a:off x="11035030" y="4034790"/>
            <a:ext cx="1035050" cy="3867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en-US" sz="900"/>
              <a:t>Cek Carbofrax boiler</a:t>
            </a:r>
          </a:p>
        </p:txBody>
      </p:sp>
      <p:pic>
        <p:nvPicPr>
          <p:cNvPr id="13" name="Picture 12" descr="WhatsApp Image 2026-09-29 at 11.35.56"/>
          <p:cNvPicPr>
            <a:picLocks noChangeAspect="1"/>
          </p:cNvPicPr>
          <p:nvPr/>
        </p:nvPicPr>
        <p:blipFill>
          <a:blip r:embed="rId5"/>
          <a:srcRect t="12500" b="12500"/>
          <a:stretch>
            <a:fillRect/>
          </a:stretch>
        </p:blipFill>
        <p:spPr>
          <a:xfrm>
            <a:off x="8622665" y="2906395"/>
            <a:ext cx="1079500" cy="1026795"/>
          </a:xfrm>
          <a:prstGeom prst="rect">
            <a:avLst/>
          </a:prstGeom>
        </p:spPr>
      </p:pic>
      <p:pic>
        <p:nvPicPr>
          <p:cNvPr id="14" name="Picture 13" descr="WhatsApp Image 2026-09-29 at 11.44.37 (1)"/>
          <p:cNvPicPr>
            <a:picLocks noChangeAspect="1"/>
          </p:cNvPicPr>
          <p:nvPr/>
        </p:nvPicPr>
        <p:blipFill>
          <a:blip r:embed="rId6"/>
          <a:srcRect t="12500" b="12500"/>
          <a:stretch>
            <a:fillRect/>
          </a:stretch>
        </p:blipFill>
        <p:spPr>
          <a:xfrm>
            <a:off x="7524115" y="4481195"/>
            <a:ext cx="1064260" cy="1064260"/>
          </a:xfrm>
          <a:prstGeom prst="rect">
            <a:avLst/>
          </a:prstGeom>
        </p:spPr>
      </p:pic>
      <p:pic>
        <p:nvPicPr>
          <p:cNvPr id="30" name="Picture 29" descr="WhatsApp Image 2026-10-06 at 12.49.23 (1)"/>
          <p:cNvPicPr>
            <a:picLocks noChangeAspect="1"/>
          </p:cNvPicPr>
          <p:nvPr/>
        </p:nvPicPr>
        <p:blipFill>
          <a:blip r:embed="rId7"/>
          <a:srcRect l="12500" r="12500"/>
          <a:stretch>
            <a:fillRect/>
          </a:stretch>
        </p:blipFill>
        <p:spPr>
          <a:xfrm>
            <a:off x="7510145" y="2906395"/>
            <a:ext cx="1026795" cy="1026795"/>
          </a:xfrm>
          <a:prstGeom prst="rect">
            <a:avLst/>
          </a:prstGeom>
        </p:spPr>
      </p:pic>
      <p:graphicFrame>
        <p:nvGraphicFramePr>
          <p:cNvPr id="8" name="Table 7"/>
          <p:cNvGraphicFramePr/>
          <p:nvPr/>
        </p:nvGraphicFramePr>
        <p:xfrm>
          <a:off x="6282690" y="708025"/>
          <a:ext cx="5794375" cy="2151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3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6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3190">
                <a:tc grid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Agenda 18 Okt 2026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No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Deskripsi Pekerjaan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PIC 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Status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Cek aksesoris tiap stoker dan cek putaran L dan 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Tim Boiler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Done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Penggantian valve inlet dissolver 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Tim Boiler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Done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Cleaning Chamber Back Boiler L dan 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Tim Boiler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Done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Cleaning Front Chamber  Boiler L dan 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Tim Boiler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Done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Cleaning Bak Wet Ash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Tim Boiler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Done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Lubrikasi All roller conveyor bottom ash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Tim Boiler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Done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Cleaning area dosing pump boiler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Tim Boiler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Done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Cleaning area Boiler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Tim Boiler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Done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5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Maintenance Motor Boiler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9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Tim MTC</a:t>
                      </a: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>
                          <a:solidFill>
                            <a:srgbClr val="000000"/>
                          </a:solidFill>
                          <a:latin typeface="Calibri" panose="020F0502020204030204" charset="-122"/>
                          <a:sym typeface="+mn-ea"/>
                        </a:rPr>
                        <a:t>Done</a:t>
                      </a:r>
                      <a:endParaRPr lang="en-US" sz="9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9" name="Picture 8" descr="WhatsApp Image 2026-10-13 at 11.26.52"/>
          <p:cNvPicPr>
            <a:picLocks noChangeAspect="1"/>
          </p:cNvPicPr>
          <p:nvPr/>
        </p:nvPicPr>
        <p:blipFill>
          <a:blip r:embed="rId8"/>
          <a:srcRect l="12500" r="12500"/>
          <a:stretch>
            <a:fillRect/>
          </a:stretch>
        </p:blipFill>
        <p:spPr>
          <a:xfrm>
            <a:off x="6404610" y="4481195"/>
            <a:ext cx="1049020" cy="1049020"/>
          </a:xfrm>
          <a:prstGeom prst="rect">
            <a:avLst/>
          </a:prstGeom>
        </p:spPr>
      </p:pic>
      <p:pic>
        <p:nvPicPr>
          <p:cNvPr id="10" name="Picture 9" descr="WhatsApp Image 2026-10-13 at 11.26.50"/>
          <p:cNvPicPr>
            <a:picLocks noChangeAspect="1"/>
          </p:cNvPicPr>
          <p:nvPr/>
        </p:nvPicPr>
        <p:blipFill>
          <a:blip r:embed="rId9"/>
          <a:srcRect t="12509" b="12509"/>
          <a:stretch>
            <a:fillRect/>
          </a:stretch>
        </p:blipFill>
        <p:spPr>
          <a:xfrm>
            <a:off x="9852660" y="2906395"/>
            <a:ext cx="1068070" cy="1068070"/>
          </a:xfrm>
          <a:prstGeom prst="rect">
            <a:avLst/>
          </a:prstGeom>
        </p:spPr>
      </p:pic>
      <p:pic>
        <p:nvPicPr>
          <p:cNvPr id="11" name="Picture 10" descr="WhatsApp Image 2026-10-13 at 11.26.47"/>
          <p:cNvPicPr>
            <a:picLocks noChangeAspect="1"/>
          </p:cNvPicPr>
          <p:nvPr/>
        </p:nvPicPr>
        <p:blipFill>
          <a:blip r:embed="rId10"/>
          <a:srcRect l="12500" r="12500"/>
          <a:stretch>
            <a:fillRect/>
          </a:stretch>
        </p:blipFill>
        <p:spPr>
          <a:xfrm>
            <a:off x="6296660" y="2906395"/>
            <a:ext cx="1143000" cy="1044575"/>
          </a:xfrm>
          <a:prstGeom prst="rect">
            <a:avLst/>
          </a:prstGeom>
        </p:spPr>
      </p:pic>
      <p:pic>
        <p:nvPicPr>
          <p:cNvPr id="16" name="Picture 15" descr="WhatsApp Image 2026-10-13 at 11.35.02"/>
          <p:cNvPicPr>
            <a:picLocks noChangeAspect="1"/>
          </p:cNvPicPr>
          <p:nvPr/>
        </p:nvPicPr>
        <p:blipFill>
          <a:blip r:embed="rId11"/>
          <a:srcRect l="12500" r="12500"/>
          <a:stretch>
            <a:fillRect/>
          </a:stretch>
        </p:blipFill>
        <p:spPr>
          <a:xfrm>
            <a:off x="11035030" y="2902585"/>
            <a:ext cx="1034415" cy="1034415"/>
          </a:xfrm>
          <a:prstGeom prst="rect">
            <a:avLst/>
          </a:prstGeom>
        </p:spPr>
      </p:pic>
      <p:pic>
        <p:nvPicPr>
          <p:cNvPr id="6" name="Picture 5" descr="WhatsApp Image 2026-10-20 at 11.41.23 (1)"/>
          <p:cNvPicPr>
            <a:picLocks noChangeAspect="1"/>
          </p:cNvPicPr>
          <p:nvPr/>
        </p:nvPicPr>
        <p:blipFill>
          <a:blip r:embed="rId12"/>
          <a:srcRect l="12500" r="12500"/>
          <a:stretch>
            <a:fillRect/>
          </a:stretch>
        </p:blipFill>
        <p:spPr>
          <a:xfrm>
            <a:off x="8667115" y="4481195"/>
            <a:ext cx="1064260" cy="1064260"/>
          </a:xfrm>
          <a:prstGeom prst="rect">
            <a:avLst/>
          </a:prstGeom>
        </p:spPr>
      </p:pic>
      <p:pic>
        <p:nvPicPr>
          <p:cNvPr id="21" name="Picture 20" descr="WhatsApp Image 2026-10-20 at 11.41.23"/>
          <p:cNvPicPr>
            <a:picLocks noChangeAspect="1"/>
          </p:cNvPicPr>
          <p:nvPr/>
        </p:nvPicPr>
        <p:blipFill>
          <a:blip r:embed="rId13"/>
          <a:srcRect t="27563" b="27563"/>
          <a:stretch>
            <a:fillRect/>
          </a:stretch>
        </p:blipFill>
        <p:spPr>
          <a:xfrm>
            <a:off x="9779635" y="4481195"/>
            <a:ext cx="1078230" cy="1078230"/>
          </a:xfrm>
          <a:prstGeom prst="rect">
            <a:avLst/>
          </a:prstGeom>
        </p:spPr>
      </p:pic>
      <p:pic>
        <p:nvPicPr>
          <p:cNvPr id="26" name="Picture 25" descr="WhatsApp Image 2026-10-20 at 11.41.22"/>
          <p:cNvPicPr>
            <a:picLocks noChangeAspect="1"/>
          </p:cNvPicPr>
          <p:nvPr/>
        </p:nvPicPr>
        <p:blipFill>
          <a:blip r:embed="rId14"/>
          <a:srcRect t="12500" b="12500"/>
          <a:stretch>
            <a:fillRect/>
          </a:stretch>
        </p:blipFill>
        <p:spPr>
          <a:xfrm>
            <a:off x="10934700" y="4479925"/>
            <a:ext cx="1065530" cy="1065530"/>
          </a:xfrm>
          <a:prstGeom prst="rect">
            <a:avLst/>
          </a:prstGeom>
        </p:spPr>
      </p:pic>
      <p:sp>
        <p:nvSpPr>
          <p:cNvPr id="27" name="Text Box 26"/>
          <p:cNvSpPr txBox="1"/>
          <p:nvPr/>
        </p:nvSpPr>
        <p:spPr>
          <a:xfrm>
            <a:off x="8680450" y="5685155"/>
            <a:ext cx="1099185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Penggantian valve inlet dissolver 6</a:t>
            </a:r>
          </a:p>
        </p:txBody>
      </p:sp>
      <p:sp>
        <p:nvSpPr>
          <p:cNvPr id="28" name="Text Box 27"/>
          <p:cNvSpPr txBox="1"/>
          <p:nvPr/>
        </p:nvSpPr>
        <p:spPr>
          <a:xfrm>
            <a:off x="9829165" y="5685155"/>
            <a:ext cx="1099185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Maintenance motor Boiler</a:t>
            </a:r>
          </a:p>
        </p:txBody>
      </p:sp>
      <p:sp>
        <p:nvSpPr>
          <p:cNvPr id="29" name="Text Box 28"/>
          <p:cNvSpPr txBox="1"/>
          <p:nvPr/>
        </p:nvSpPr>
        <p:spPr>
          <a:xfrm>
            <a:off x="10972165" y="5684520"/>
            <a:ext cx="1099185" cy="368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/>
              <a:t>Kalibrasi Guillotine boiler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185" y="46355"/>
            <a:ext cx="9144000" cy="328930"/>
          </a:xfrm>
        </p:spPr>
        <p:txBody>
          <a:bodyPr/>
          <a:lstStyle/>
          <a:p>
            <a:pPr algn="l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KPI Engineering Utility (s.d Oktober - 2026)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3335" y="451485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-43815" y="6800850"/>
            <a:ext cx="12206605" cy="76200"/>
          </a:xfrm>
          <a:prstGeom prst="rect">
            <a:avLst/>
          </a:prstGeom>
        </p:spPr>
      </p:pic>
      <p:sp>
        <p:nvSpPr>
          <p:cNvPr id="10" name="Slide Number Placeholder 5"/>
          <p:cNvSpPr txBox="1"/>
          <p:nvPr/>
        </p:nvSpPr>
        <p:spPr>
          <a:xfrm>
            <a:off x="10004091" y="6509164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12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graphicFrame>
        <p:nvGraphicFramePr>
          <p:cNvPr id="5" name="Table 4"/>
          <p:cNvGraphicFramePr/>
          <p:nvPr>
            <p:custDataLst>
              <p:tags r:id="rId1"/>
            </p:custDataLst>
          </p:nvPr>
        </p:nvGraphicFramePr>
        <p:xfrm>
          <a:off x="133985" y="545465"/>
          <a:ext cx="11844655" cy="1062672"/>
        </p:xfrm>
        <a:graphic>
          <a:graphicData uri="http://schemas.openxmlformats.org/drawingml/2006/table">
            <a:tbl>
              <a:tblPr/>
              <a:tblGrid>
                <a:gridCol w="1908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2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3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2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8445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Bulan Oktober 2026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5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Schedule Maintenance</a:t>
                      </a:r>
                    </a:p>
                    <a:p>
                      <a:pPr algn="ctr" fontAlgn="ctr"/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(min 95%)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 Breakdown</a:t>
                      </a:r>
                    </a:p>
                    <a:p>
                      <a:pPr algn="ctr" fontAlgn="ctr"/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(max 5x)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 Downtime</a:t>
                      </a:r>
                    </a:p>
                    <a:p>
                      <a:pPr algn="ctr" fontAlgn="ctr"/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(&lt;2%)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QCC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(min 3)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MTTR</a:t>
                      </a:r>
                    </a:p>
                    <a:p>
                      <a:pPr algn="ctr" fontAlgn="ctr"/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(Jam)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MTBF</a:t>
                      </a:r>
                    </a:p>
                    <a:p>
                      <a:pPr algn="ctr" fontAlgn="ctr"/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(jam)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Cost Maintenance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(Jt)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55%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1.89%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1.4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621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43 jt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7" name="Chart 16"/>
          <p:cNvGraphicFramePr/>
          <p:nvPr/>
        </p:nvGraphicFramePr>
        <p:xfrm>
          <a:off x="133985" y="1633220"/>
          <a:ext cx="3693795" cy="2463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8" name="Chart 17"/>
          <p:cNvGraphicFramePr/>
          <p:nvPr/>
        </p:nvGraphicFramePr>
        <p:xfrm>
          <a:off x="3905885" y="1634490"/>
          <a:ext cx="4026535" cy="2457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133985" y="4198620"/>
          <a:ext cx="3693795" cy="24860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Chart 6"/>
          <p:cNvGraphicFramePr/>
          <p:nvPr/>
        </p:nvGraphicFramePr>
        <p:xfrm>
          <a:off x="3906520" y="4198620"/>
          <a:ext cx="4025900" cy="24866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3" name="Line Callout 2 12"/>
          <p:cNvSpPr/>
          <p:nvPr/>
        </p:nvSpPr>
        <p:spPr>
          <a:xfrm flipH="1">
            <a:off x="4008120" y="5005705"/>
            <a:ext cx="1047750" cy="85153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6241"/>
              <a:gd name="adj6" fmla="val -28787"/>
            </a:avLst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Motor Pompa</a:t>
            </a:r>
            <a:r>
              <a:rPr lang="en-US" sz="90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900">
                <a:solidFill>
                  <a:schemeClr val="tx1"/>
                </a:solidFill>
              </a:rPr>
              <a:t>1. Pompa Transfer Glukosa no 1</a:t>
            </a:r>
          </a:p>
          <a:p>
            <a:pPr algn="l"/>
            <a:r>
              <a:rPr lang="en-US" sz="900">
                <a:solidFill>
                  <a:schemeClr val="tx1"/>
                </a:solidFill>
              </a:rPr>
              <a:t>2. Pompa Hot Water no 1</a:t>
            </a:r>
          </a:p>
          <a:p>
            <a:pPr algn="l"/>
            <a:r>
              <a:rPr lang="en-US" sz="9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4" name="Line Callout 2 13"/>
          <p:cNvSpPr/>
          <p:nvPr/>
        </p:nvSpPr>
        <p:spPr>
          <a:xfrm>
            <a:off x="6769735" y="5066665"/>
            <a:ext cx="1082040" cy="567055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2889"/>
              <a:gd name="adj6" fmla="val -27758"/>
            </a:avLst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>
                <a:solidFill>
                  <a:schemeClr val="tx1"/>
                </a:solidFill>
              </a:rPr>
              <a:t>Otomotif</a:t>
            </a:r>
          </a:p>
          <a:p>
            <a:pPr algn="l"/>
            <a:r>
              <a:rPr lang="en-US" sz="900">
                <a:solidFill>
                  <a:schemeClr val="tx1"/>
                </a:solidFill>
              </a:rPr>
              <a:t>1. Pallet Mover 15 PRD </a:t>
            </a:r>
          </a:p>
          <a:p>
            <a:pPr algn="l"/>
            <a:endParaRPr lang="en-US" sz="900">
              <a:solidFill>
                <a:schemeClr val="tx1"/>
              </a:solidFill>
            </a:endParaRPr>
          </a:p>
        </p:txBody>
      </p:sp>
      <p:graphicFrame>
        <p:nvGraphicFramePr>
          <p:cNvPr id="19" name="Chart 18"/>
          <p:cNvGraphicFramePr/>
          <p:nvPr/>
        </p:nvGraphicFramePr>
        <p:xfrm>
          <a:off x="8011160" y="4198620"/>
          <a:ext cx="4025900" cy="24949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4" name="Chart 23"/>
          <p:cNvGraphicFramePr/>
          <p:nvPr/>
        </p:nvGraphicFramePr>
        <p:xfrm>
          <a:off x="8011160" y="1633220"/>
          <a:ext cx="4031615" cy="24663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 PT.BAS.png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3335" y="466090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9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14" name="Slide Number Placeholder 5"/>
          <p:cNvSpPr txBox="1"/>
          <p:nvPr/>
        </p:nvSpPr>
        <p:spPr>
          <a:xfrm>
            <a:off x="10033301" y="6584094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13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95" name="Flowchart: Terminator 94"/>
          <p:cNvSpPr/>
          <p:nvPr/>
        </p:nvSpPr>
        <p:spPr>
          <a:xfrm>
            <a:off x="245110" y="553720"/>
            <a:ext cx="4749165" cy="313690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Realisasi Agenda Otomotif </a:t>
            </a:r>
          </a:p>
        </p:txBody>
      </p:sp>
      <p:graphicFrame>
        <p:nvGraphicFramePr>
          <p:cNvPr id="35" name="Table 34"/>
          <p:cNvGraphicFramePr/>
          <p:nvPr>
            <p:custDataLst>
              <p:tags r:id="rId1"/>
            </p:custDataLst>
          </p:nvPr>
        </p:nvGraphicFramePr>
        <p:xfrm>
          <a:off x="371475" y="5357495"/>
          <a:ext cx="3366770" cy="1390650"/>
        </p:xfrm>
        <a:graphic>
          <a:graphicData uri="http://schemas.openxmlformats.org/drawingml/2006/table">
            <a:tbl>
              <a:tblPr/>
              <a:tblGrid>
                <a:gridCol w="84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2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8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18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2885">
                <a:tc gridSpan="6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Calibri" panose="020F0502020204030204" charset="-122"/>
                        </a:rPr>
                        <a:t>MHE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 gridSpan="6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DOWNTIME / JUMLAH UNIT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74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DEPARTEMENT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Forklift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PM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ES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TRAKTOR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LOADER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04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PRD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charset="-122"/>
                        </a:rPr>
                        <a:t>0/5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FF0000"/>
                          </a:solidFill>
                          <a:latin typeface="Calibri" panose="020F0502020204030204" charset="-122"/>
                        </a:rPr>
                        <a:t>1</a:t>
                      </a: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charset="-122"/>
                        </a:rPr>
                        <a:t>/</a:t>
                      </a: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0/2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0/0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0/0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WRH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0/9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charset="-122"/>
                        </a:rPr>
                        <a:t>0</a:t>
                      </a: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/6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charset="-122"/>
                        </a:rPr>
                        <a:t>0</a:t>
                      </a: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/3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0/1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0/1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Flowchart: Terminator 20"/>
          <p:cNvSpPr/>
          <p:nvPr/>
        </p:nvSpPr>
        <p:spPr>
          <a:xfrm>
            <a:off x="6181725" y="539115"/>
            <a:ext cx="5267960" cy="302895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PM dan CM MHE 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5069840" y="466090"/>
            <a:ext cx="7620" cy="63284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Text Box 14"/>
          <p:cNvSpPr txBox="1"/>
          <p:nvPr/>
        </p:nvSpPr>
        <p:spPr>
          <a:xfrm>
            <a:off x="3853180" y="5962015"/>
            <a:ext cx="11753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Menunggu PR Part Kontaktor</a:t>
            </a:r>
          </a:p>
        </p:txBody>
      </p:sp>
      <p:graphicFrame>
        <p:nvGraphicFramePr>
          <p:cNvPr id="17" name="Table 16"/>
          <p:cNvGraphicFramePr/>
          <p:nvPr>
            <p:custDataLst>
              <p:tags r:id="rId2"/>
            </p:custDataLst>
          </p:nvPr>
        </p:nvGraphicFramePr>
        <p:xfrm>
          <a:off x="5402580" y="780415"/>
          <a:ext cx="6508750" cy="5955665"/>
        </p:xfrm>
        <a:graphic>
          <a:graphicData uri="http://schemas.openxmlformats.org/drawingml/2006/table">
            <a:tbl>
              <a:tblPr/>
              <a:tblGrid>
                <a:gridCol w="53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9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04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96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95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272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900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Preventive Maintenance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Tanggal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Unit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Temuan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Corrective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Dokumentasi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 Okt 2026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F06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 Horn Mati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 Ban Belakang Aus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 Penggantian Horn 1 Pcs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 Penggantian Ban belakang 2 Pcs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 Okt 2026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F02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 Ban Belakang aus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 Ban Depan aus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3. Bearing trust rusak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 Penggantian Ban belakang 2 pcs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 Penggantian Ban depan 2pcs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3. Penggantian Bearing trust 2 pcs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13 Okt 2026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F07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 Ban belakang aus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 Penggantina ban belakang 2pcs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 Okt 2026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F12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 Tiang mast goyang 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 Bearing oblak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Perlu dilakukan perbaikan tiang mast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481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 Okt 2026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Loader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Terdapat kebocoran oli gardan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 Penggantian Seal 2 pcs</a:t>
                      </a:r>
                    </a:p>
                    <a:p>
                      <a:pPr algn="l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 Penggantian Bearing 2 pcs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6690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Corrective Maintenance</a:t>
                      </a:r>
                      <a:endParaRPr lang="en-US" sz="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Tanggal </a:t>
                      </a:r>
                    </a:p>
                  </a:txBody>
                  <a:tcPr marL="9842" marR="9842" marT="9842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Unit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Temuan 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Corrective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MTTR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Dokumentasi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17 Okt 2026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ES01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 Roda Steker Gompal</a:t>
                      </a:r>
                    </a:p>
                    <a:p>
                      <a:pPr algn="l" fontAlgn="ctr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 Roller Gompal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 Penggantian Roda Steker 2 pcs </a:t>
                      </a:r>
                    </a:p>
                    <a:p>
                      <a:pPr algn="l" fontAlgn="ctr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 Penggantian Roller 1 pcs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87 menit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2" name="Table 1"/>
          <p:cNvGraphicFramePr/>
          <p:nvPr>
            <p:custDataLst>
              <p:tags r:id="rId3"/>
            </p:custDataLst>
          </p:nvPr>
        </p:nvGraphicFramePr>
        <p:xfrm>
          <a:off x="173355" y="3103245"/>
          <a:ext cx="2038350" cy="1205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7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Unit MHE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Status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90000"/>
                        </a:lnSpc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PRD (6 unit)</a:t>
                      </a:r>
                    </a:p>
                  </a:txBody>
                  <a:tcPr marL="9842" marR="9842" marT="984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90000"/>
                        </a:lnSpc>
                      </a:pPr>
                      <a:r>
                        <a:rPr lang="en-US" sz="10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  <a:sym typeface="+mn-ea"/>
                        </a:rPr>
                        <a:t>WRH (6 unit)</a:t>
                      </a:r>
                    </a:p>
                  </a:txBody>
                  <a:tcPr marL="9842" marR="9842" marT="984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370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Persentase 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1" name="Table 40"/>
          <p:cNvGraphicFramePr/>
          <p:nvPr>
            <p:custDataLst>
              <p:tags r:id="rId4"/>
            </p:custDataLst>
          </p:nvPr>
        </p:nvGraphicFramePr>
        <p:xfrm>
          <a:off x="2306955" y="3093720"/>
          <a:ext cx="2585720" cy="1224280"/>
        </p:xfrm>
        <a:graphic>
          <a:graphicData uri="http://schemas.openxmlformats.org/drawingml/2006/table">
            <a:tbl>
              <a:tblPr/>
              <a:tblGrid>
                <a:gridCol w="52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0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7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 fontAlgn="b"/>
                      <a:r>
                        <a:rPr sz="1100" b="1">
                          <a:latin typeface="Arial" panose="020B0604020202020204"/>
                          <a:ea typeface="Arial" panose="020B0604020202020204"/>
                        </a:rPr>
                        <a:t>Cost MHE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>
                          <a:latin typeface="Arial" panose="020B0604020202020204"/>
                          <a:ea typeface="Arial" panose="020B0604020202020204"/>
                        </a:rPr>
                        <a:t>W1</a:t>
                      </a:r>
                    </a:p>
                  </a:txBody>
                  <a:tcPr marL="28892" marR="28892" marT="19367" marB="19367" anchor="ctr"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>
                          <a:latin typeface="Arial" panose="020B0604020202020204"/>
                          <a:ea typeface="Arial" panose="020B0604020202020204"/>
                        </a:rPr>
                        <a:t>W2</a:t>
                      </a:r>
                    </a:p>
                  </a:txBody>
                  <a:tcPr anchor="ctr"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>
                          <a:latin typeface="Arial" panose="020B0604020202020204"/>
                          <a:ea typeface="Arial" panose="020B0604020202020204"/>
                        </a:rPr>
                        <a:t>W3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>
                          <a:latin typeface="Arial" panose="020B0604020202020204"/>
                          <a:ea typeface="Arial" panose="020B0604020202020204"/>
                        </a:rPr>
                        <a:t>W4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PRD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2 jt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10.3 jt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23.3jt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WRH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1 jt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1.1 jt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13.2jt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Chart 24"/>
          <p:cNvGraphicFramePr/>
          <p:nvPr/>
        </p:nvGraphicFramePr>
        <p:xfrm>
          <a:off x="2596515" y="958850"/>
          <a:ext cx="2296160" cy="20427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8" name="Chart 27"/>
          <p:cNvGraphicFramePr/>
          <p:nvPr/>
        </p:nvGraphicFramePr>
        <p:xfrm>
          <a:off x="142875" y="963295"/>
          <a:ext cx="2372360" cy="2038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39" name="Table 38"/>
          <p:cNvGraphicFramePr/>
          <p:nvPr>
            <p:custDataLst>
              <p:tags r:id="rId5"/>
            </p:custDataLst>
          </p:nvPr>
        </p:nvGraphicFramePr>
        <p:xfrm>
          <a:off x="173990" y="4410075"/>
          <a:ext cx="4570730" cy="870582"/>
        </p:xfrm>
        <a:graphic>
          <a:graphicData uri="http://schemas.openxmlformats.org/drawingml/2006/table">
            <a:tbl>
              <a:tblPr/>
              <a:tblGrid>
                <a:gridCol w="333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8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660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TOP COST PART TERTINGGI</a:t>
                      </a:r>
                    </a:p>
                  </a:txBody>
                  <a:tcPr marL="28892" marR="28892" marT="19367" marB="19367" anchor="b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19367" marB="19367" anchor="b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Qty</a:t>
                      </a:r>
                    </a:p>
                  </a:txBody>
                  <a:tcPr marL="28892" marR="28892" marT="19367" marB="1936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0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</a:t>
                      </a:r>
                    </a:p>
                  </a:txBody>
                  <a:tcPr marL="28892" marR="28892" marT="19367" marB="19367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9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Plus Jakarta Sans"/>
                          <a:cs typeface="Arial" panose="020B0604020202020204" pitchFamily="34" charset="0"/>
                        </a:rPr>
                        <a:t>ASCENDO BAN MATI FORKLIFT 18X7-8</a:t>
                      </a:r>
                    </a:p>
                  </a:txBody>
                  <a:tcPr marL="86042" marR="86042" marT="86042" marB="8604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0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Plus Jakarta Sans"/>
                          <a:cs typeface="Arial" panose="020B0604020202020204" pitchFamily="34" charset="0"/>
                        </a:rPr>
                        <a:t>Rp 10.094.000</a:t>
                      </a:r>
                    </a:p>
                  </a:txBody>
                  <a:tcPr marL="86042" marR="86042" marT="86042" marB="8604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en-US" sz="90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28892" marR="28892" marT="19367" marB="19367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2</a:t>
                      </a:r>
                    </a:p>
                  </a:txBody>
                  <a:tcPr marL="28892" marR="28892" marT="19367" marB="19367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9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Plus Jakarta Sans"/>
                          <a:cs typeface="Arial" panose="020B0604020202020204" pitchFamily="34" charset="0"/>
                        </a:rPr>
                        <a:t>PN14600-04361 CAP PIVOT(MAST NICHIYU)</a:t>
                      </a:r>
                    </a:p>
                  </a:txBody>
                  <a:tcPr marL="86042" marR="86042" marT="86042" marB="8604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en-US" sz="1000" b="0" i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Plus Jakarta Sans"/>
                          <a:cs typeface="Arial" panose="020B0604020202020204" pitchFamily="34" charset="0"/>
                        </a:rPr>
                        <a:t>Rp 2.900.000</a:t>
                      </a:r>
                    </a:p>
                  </a:txBody>
                  <a:tcPr marL="86042" marR="86042" marT="86042" marB="86042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en-US" sz="900" b="0">
                          <a:latin typeface="Arial" panose="020B0604020202020204" pitchFamily="34" charset="0"/>
                          <a:ea typeface="Calibri" panose="020F0502020204030204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28892" marR="28892" marT="19367" marB="19367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 flipV="1">
            <a:off x="1999615" y="6188075"/>
            <a:ext cx="1826895" cy="952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16200000">
            <a:off x="9645015" y="1186180"/>
            <a:ext cx="692785" cy="78549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8660" y="1963420"/>
            <a:ext cx="885825" cy="67754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99725" y="1963420"/>
            <a:ext cx="678180" cy="666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02670" y="1963420"/>
            <a:ext cx="664845" cy="6597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6"/>
          <a:srcRect l="7051" r="7885"/>
          <a:stretch>
            <a:fillRect/>
          </a:stretch>
        </p:blipFill>
        <p:spPr>
          <a:xfrm>
            <a:off x="10400030" y="1232535"/>
            <a:ext cx="842645" cy="6927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7"/>
          <a:srcRect r="7326"/>
          <a:stretch>
            <a:fillRect/>
          </a:stretch>
        </p:blipFill>
        <p:spPr>
          <a:xfrm>
            <a:off x="11254105" y="1232535"/>
            <a:ext cx="642620" cy="6934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051415" y="2691765"/>
            <a:ext cx="695325" cy="69024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82935" y="2691765"/>
            <a:ext cx="699770" cy="69596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0"/>
          <a:srcRect l="16267" r="11352"/>
          <a:stretch>
            <a:fillRect/>
          </a:stretch>
        </p:blipFill>
        <p:spPr>
          <a:xfrm>
            <a:off x="9598660" y="4151630"/>
            <a:ext cx="785495" cy="131064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1"/>
          <a:srcRect r="35990"/>
          <a:stretch>
            <a:fillRect/>
          </a:stretch>
        </p:blipFill>
        <p:spPr>
          <a:xfrm>
            <a:off x="10400030" y="4147820"/>
            <a:ext cx="622300" cy="1320165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038205" y="4151630"/>
            <a:ext cx="822960" cy="13144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08185" y="5883910"/>
            <a:ext cx="685800" cy="810895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4"/>
          <a:srcRect l="18972"/>
          <a:stretch>
            <a:fillRect/>
          </a:stretch>
        </p:blipFill>
        <p:spPr>
          <a:xfrm>
            <a:off x="10316845" y="5883910"/>
            <a:ext cx="740410" cy="81089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080115" y="5883910"/>
            <a:ext cx="811530" cy="81153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169525" y="3432175"/>
            <a:ext cx="1201420" cy="671830"/>
          </a:xfrm>
          <a:prstGeom prst="rect">
            <a:avLst/>
          </a:prstGeom>
        </p:spPr>
      </p:pic>
      <p:sp>
        <p:nvSpPr>
          <p:cNvPr id="31" name="Title 23"/>
          <p:cNvSpPr>
            <a:spLocks noGrp="1"/>
          </p:cNvSpPr>
          <p:nvPr/>
        </p:nvSpPr>
        <p:spPr>
          <a:xfrm>
            <a:off x="-14605" y="137160"/>
            <a:ext cx="9144000" cy="328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Performance Maintenance ( 12 - 18 Okt 2026)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 PT.BAS.png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3335" y="466090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14" name="Slide Number Placeholder 5"/>
          <p:cNvSpPr txBox="1"/>
          <p:nvPr/>
        </p:nvSpPr>
        <p:spPr>
          <a:xfrm>
            <a:off x="10033301" y="6584094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14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21" name="Flowchart: Terminator 20"/>
          <p:cNvSpPr/>
          <p:nvPr/>
        </p:nvSpPr>
        <p:spPr>
          <a:xfrm>
            <a:off x="3462020" y="577215"/>
            <a:ext cx="5267960" cy="302895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Perbaikan Tiang Mast F16 WPG</a:t>
            </a:r>
          </a:p>
        </p:txBody>
      </p:sp>
      <p:graphicFrame>
        <p:nvGraphicFramePr>
          <p:cNvPr id="12" name="Table 11"/>
          <p:cNvGraphicFramePr/>
          <p:nvPr>
            <p:custDataLst>
              <p:tags r:id="rId1"/>
            </p:custDataLst>
          </p:nvPr>
        </p:nvGraphicFramePr>
        <p:xfrm>
          <a:off x="7389495" y="1104265"/>
          <a:ext cx="4182110" cy="2550795"/>
        </p:xfrm>
        <a:graphic>
          <a:graphicData uri="http://schemas.openxmlformats.org/drawingml/2006/table">
            <a:tbl>
              <a:tblPr/>
              <a:tblGrid>
                <a:gridCol w="278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5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7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 gridSpan="3">
                  <a:txBody>
                    <a:bodyPr/>
                    <a:lstStyle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Monitor Agenda Perbaikan Tiang Mast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Pekerjaan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Progress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Pembongkaran Tiang mast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Pengetapan Ulang Bolt Cap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Penggantian Bearing Abnormal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Pengelasan Bagian Cap Mast , Support Drive dan Spindel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0%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Perakitan tiang mast dan Pemasangan ke unit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</a:t>
                      </a:r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%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Trial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 Progres</a:t>
                      </a:r>
                      <a:r>
                        <a:rPr lang="en-US"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</a:t>
                      </a:r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%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" name="Rectangles 27"/>
          <p:cNvSpPr/>
          <p:nvPr/>
        </p:nvSpPr>
        <p:spPr>
          <a:xfrm>
            <a:off x="130810" y="1104265"/>
            <a:ext cx="6643370" cy="442976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/>
          <p:cNvGraphicFramePr/>
          <p:nvPr/>
        </p:nvGraphicFramePr>
        <p:xfrm>
          <a:off x="6891020" y="3766820"/>
          <a:ext cx="5179060" cy="2270114"/>
        </p:xfrm>
        <a:graphic>
          <a:graphicData uri="http://schemas.openxmlformats.org/drawingml/2006/table">
            <a:tbl>
              <a:tblPr/>
              <a:tblGrid>
                <a:gridCol w="874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2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7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025"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>
                          <a:latin typeface="Arial" panose="020B0604020202020204"/>
                          <a:ea typeface="Arial" panose="020B0604020202020204"/>
                        </a:rPr>
                        <a:t>Rincian Biaya Perbaikan Tiang Mast F16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MID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>
                          <a:latin typeface="Arial" panose="020B0604020202020204"/>
                          <a:ea typeface="Arial" panose="020B0604020202020204"/>
                        </a:rPr>
                        <a:t>Nama Part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>
                          <a:latin typeface="Arial" panose="020B0604020202020204"/>
                          <a:ea typeface="Arial" panose="020B0604020202020204"/>
                        </a:rPr>
                        <a:t>Qty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>
                          <a:latin typeface="Calibri" panose="020F0502020204030204"/>
                          <a:ea typeface="Calibri" panose="020F0502020204030204"/>
                        </a:rPr>
                        <a:t>Harga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60017532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PN14602-84530 BUSHING CAP(MAST NICHIYU)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>
                          <a:latin typeface="Calibri" panose="020F0502020204030204"/>
                          <a:ea typeface="Calibri" panose="020F0502020204030204"/>
                        </a:rPr>
                        <a:t>1.500.000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60017530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PN14600-04361 CAP PIVOT(MAST NICHIYU)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>
                          <a:latin typeface="Calibri" panose="020F0502020204030204"/>
                          <a:ea typeface="Calibri" panose="020F0502020204030204"/>
                        </a:rPr>
                        <a:t>2.900.000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60017531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PN0020-16055 BOLT CAP(MAST NICHIYU)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4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>
                          <a:latin typeface="Calibri" panose="020F0502020204030204"/>
                          <a:ea typeface="Calibri" panose="020F0502020204030204"/>
                        </a:rPr>
                        <a:t>121.520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60023908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RING PER BAJA M16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4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>
                          <a:latin typeface="Calibri" panose="020F0502020204030204"/>
                          <a:ea typeface="Calibri" panose="020F0502020204030204"/>
                        </a:rPr>
                        <a:t>808.000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60000028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RING PLAT GLV M16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4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>
                          <a:latin typeface="Calibri" panose="020F0502020204030204"/>
                          <a:ea typeface="Calibri" panose="020F0502020204030204"/>
                        </a:rPr>
                        <a:t>40.000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60008976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SPP0000761-MINYAK REM PRESTONE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>
                          <a:latin typeface="Calibri" panose="020F0502020204030204"/>
                          <a:ea typeface="Calibri" panose="020F0502020204030204"/>
                        </a:rPr>
                        <a:t>84.040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60029294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WD MATA GERINDA FLEKSIBLE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>
                          <a:latin typeface="Calibri" panose="020F0502020204030204"/>
                          <a:ea typeface="Calibri" panose="020F0502020204030204"/>
                        </a:rPr>
                        <a:t>8.400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60034578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NICHIYU MAST ROLLER 70001 - 32410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100"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>
                          <a:latin typeface="Calibri" panose="020F0502020204030204"/>
                          <a:ea typeface="Calibri" panose="020F0502020204030204"/>
                        </a:rPr>
                        <a:t>1.566.586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>
                          <a:latin typeface="Arial" panose="020B0604020202020204"/>
                          <a:ea typeface="Arial" panose="020B0604020202020204"/>
                        </a:rPr>
                        <a:t>Total Biaya Perbaikan 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altLang="en-US" sz="1100" b="1">
                          <a:latin typeface="Calibri" panose="020F0502020204030204"/>
                          <a:ea typeface="Calibri" panose="020F0502020204030204"/>
                        </a:rPr>
                        <a:t>7.028.546</a:t>
                      </a:r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9" name="Text Box 18"/>
          <p:cNvSpPr txBox="1"/>
          <p:nvPr/>
        </p:nvSpPr>
        <p:spPr>
          <a:xfrm>
            <a:off x="1332865" y="1180465"/>
            <a:ext cx="5302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Total Waktu Pengerjaan</a:t>
            </a:r>
            <a:r>
              <a:rPr lang="en-US"/>
              <a:t> = 10 Hari (</a:t>
            </a:r>
            <a:r>
              <a:rPr lang="en-US" b="1"/>
              <a:t>70 jam</a:t>
            </a:r>
            <a:r>
              <a:rPr lang="en-US"/>
              <a:t>)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1275" y="3604260"/>
            <a:ext cx="1465580" cy="175641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2020" y="3623310"/>
            <a:ext cx="1455420" cy="17373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7825" y="3622675"/>
            <a:ext cx="1747520" cy="17379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485" y="3622675"/>
            <a:ext cx="1360805" cy="17379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7485" y="1696720"/>
            <a:ext cx="1555750" cy="156083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62020" y="1696720"/>
            <a:ext cx="1551940" cy="155194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10385" y="1696720"/>
            <a:ext cx="1552575" cy="156019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/>
          <a:srcRect l="8582" r="8494"/>
          <a:stretch>
            <a:fillRect/>
          </a:stretch>
        </p:blipFill>
        <p:spPr>
          <a:xfrm>
            <a:off x="5069205" y="1686560"/>
            <a:ext cx="1574800" cy="1551305"/>
          </a:xfrm>
          <a:prstGeom prst="rect">
            <a:avLst/>
          </a:prstGeom>
        </p:spPr>
      </p:pic>
      <p:sp>
        <p:nvSpPr>
          <p:cNvPr id="18" name="Text Box 17"/>
          <p:cNvSpPr txBox="1"/>
          <p:nvPr/>
        </p:nvSpPr>
        <p:spPr>
          <a:xfrm>
            <a:off x="130810" y="5661660"/>
            <a:ext cx="37496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*Next Perbaikan</a:t>
            </a:r>
            <a:r>
              <a:rPr lang="en-US" sz="1600"/>
              <a:t> tiang mast </a:t>
            </a:r>
            <a:r>
              <a:rPr lang="en-US" sz="1600" b="1"/>
              <a:t>forklift 12 PRD</a:t>
            </a:r>
          </a:p>
        </p:txBody>
      </p:sp>
      <p:sp>
        <p:nvSpPr>
          <p:cNvPr id="23" name="Title 23"/>
          <p:cNvSpPr>
            <a:spLocks noGrp="1"/>
          </p:cNvSpPr>
          <p:nvPr/>
        </p:nvSpPr>
        <p:spPr>
          <a:xfrm>
            <a:off x="-14605" y="137160"/>
            <a:ext cx="9144000" cy="328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Performance Maintenance ( 12 - 18 Okt 2026)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Table 45"/>
          <p:cNvGraphicFramePr/>
          <p:nvPr>
            <p:custDataLst>
              <p:tags r:id="rId1"/>
            </p:custDataLst>
          </p:nvPr>
        </p:nvGraphicFramePr>
        <p:xfrm>
          <a:off x="5210175" y="1045210"/>
          <a:ext cx="6872605" cy="5572125"/>
        </p:xfrm>
        <a:graphic>
          <a:graphicData uri="http://schemas.openxmlformats.org/drawingml/2006/table">
            <a:tbl>
              <a:tblPr/>
              <a:tblGrid>
                <a:gridCol w="567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6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710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Preventive Maintenance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7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Tanggal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Unit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Temuan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Corrective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Dokumentasi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570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 Okt 2026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Motor Pompa Outlet 1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Rubber Kopling Aus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Penggantian Rubber Kopling F36 pcs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570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 Okt 2026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Motor Pompa Sand Filter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Vblet Mau putus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Penggantian Vbelt A34 1 pcs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Corrective Maintenance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Tanggal </a:t>
                      </a:r>
                    </a:p>
                  </a:txBody>
                  <a:tcPr marL="9842" marR="9842" marT="9842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Unit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Temuan 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Corrective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MTTR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Dokumentasi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144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7" name="Picture 6" descr="Logo PT.BAS.png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3335" y="466090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9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14" name="Slide Number Placeholder 5"/>
          <p:cNvSpPr txBox="1"/>
          <p:nvPr/>
        </p:nvSpPr>
        <p:spPr>
          <a:xfrm>
            <a:off x="10033301" y="6584094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15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95" name="Flowchart: Terminator 94"/>
          <p:cNvSpPr/>
          <p:nvPr/>
        </p:nvSpPr>
        <p:spPr>
          <a:xfrm>
            <a:off x="321310" y="612140"/>
            <a:ext cx="4615815" cy="267970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Realisasi Agenda Motor Pompa </a:t>
            </a:r>
          </a:p>
        </p:txBody>
      </p:sp>
      <p:sp>
        <p:nvSpPr>
          <p:cNvPr id="21" name="Flowchart: Terminator 20"/>
          <p:cNvSpPr/>
          <p:nvPr/>
        </p:nvSpPr>
        <p:spPr>
          <a:xfrm>
            <a:off x="6181725" y="602615"/>
            <a:ext cx="5267960" cy="302895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PM dan CM Motor Pompa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5069840" y="466090"/>
            <a:ext cx="7620" cy="63284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/>
          <p:nvPr>
            <p:custDataLst>
              <p:tags r:id="rId2"/>
            </p:custDataLst>
          </p:nvPr>
        </p:nvGraphicFramePr>
        <p:xfrm>
          <a:off x="107950" y="2685415"/>
          <a:ext cx="2654300" cy="195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5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Area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</a:rPr>
                        <a:t>Status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1.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90000"/>
                        </a:lnSpc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CT (4 unit)</a:t>
                      </a:r>
                    </a:p>
                  </a:txBody>
                  <a:tcPr marL="9842" marR="9842" marT="984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90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WWTP (13 unit)</a:t>
                      </a:r>
                    </a:p>
                  </a:txBody>
                  <a:tcPr marL="9842" marR="9842" marT="984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90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Tank Farm (10 Unit)</a:t>
                      </a:r>
                    </a:p>
                  </a:txBody>
                  <a:tcPr marL="9842" marR="9842" marT="984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90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Boiler (4 unit)</a:t>
                      </a:r>
                    </a:p>
                  </a:txBody>
                  <a:tcPr marL="9842" marR="9842" marT="984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ct val="90000"/>
                        </a:lnSpc>
                        <a:buNone/>
                      </a:pPr>
                      <a:r>
                        <a:rPr lang="en-US" sz="1200" b="0" i="0">
                          <a:solidFill>
                            <a:srgbClr val="000000"/>
                          </a:solidFill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Fasum 3 (1 unit)</a:t>
                      </a:r>
                    </a:p>
                  </a:txBody>
                  <a:tcPr marL="9842" marR="9842" marT="984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</a:rPr>
                        <a:t>100%</a:t>
                      </a:r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6695"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Persentase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>
                          <a:solidFill>
                            <a:schemeClr val="tx1"/>
                          </a:solidFill>
                        </a:rPr>
                        <a:t>100%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/>
          <p:nvPr>
            <p:custDataLst>
              <p:tags r:id="rId3"/>
            </p:custDataLst>
          </p:nvPr>
        </p:nvGraphicFramePr>
        <p:xfrm>
          <a:off x="142875" y="5336540"/>
          <a:ext cx="3529965" cy="1415415"/>
        </p:xfrm>
        <a:graphic>
          <a:graphicData uri="http://schemas.openxmlformats.org/drawingml/2006/table">
            <a:tbl>
              <a:tblPr/>
              <a:tblGrid>
                <a:gridCol w="85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9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 panose="020F0502020204030204" charset="-122"/>
                        </a:rPr>
                        <a:t>MOTOR POMPA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 gridSpan="2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DOWNTIME / JUMLAH UNIT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DEPARTEMENT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Motor Pompa/Fan/Blower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ENG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charset="-122"/>
                        </a:rPr>
                        <a:t>0/107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3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WRH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0">
                          <a:solidFill>
                            <a:srgbClr val="FF0000"/>
                          </a:solidFill>
                          <a:latin typeface="Calibri" panose="020F0502020204030204" charset="-122"/>
                        </a:rPr>
                        <a:t>2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/12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0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PRD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0/2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Box 9"/>
          <p:cNvSpPr txBox="1"/>
          <p:nvPr/>
        </p:nvSpPr>
        <p:spPr>
          <a:xfrm>
            <a:off x="3769360" y="6379845"/>
            <a:ext cx="1317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Pompa HW Glukosa (</a:t>
            </a: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proses PR</a:t>
            </a: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cxnSp>
        <p:nvCxnSpPr>
          <p:cNvPr id="4" name="Straight Arrow Connector 3"/>
          <p:cNvCxnSpPr>
            <a:endCxn id="10" idx="1"/>
          </p:cNvCxnSpPr>
          <p:nvPr/>
        </p:nvCxnSpPr>
        <p:spPr>
          <a:xfrm>
            <a:off x="2807335" y="6431280"/>
            <a:ext cx="962025" cy="13271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25" name="Chart 24"/>
          <p:cNvGraphicFramePr/>
          <p:nvPr/>
        </p:nvGraphicFramePr>
        <p:xfrm>
          <a:off x="2596515" y="958850"/>
          <a:ext cx="2340610" cy="163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15" name="Chart 14"/>
          <p:cNvGraphicFramePr/>
          <p:nvPr/>
        </p:nvGraphicFramePr>
        <p:xfrm>
          <a:off x="142875" y="963295"/>
          <a:ext cx="2372360" cy="16294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6" name="Table 5"/>
          <p:cNvGraphicFramePr/>
          <p:nvPr>
            <p:custDataLst>
              <p:tags r:id="rId4"/>
            </p:custDataLst>
          </p:nvPr>
        </p:nvGraphicFramePr>
        <p:xfrm>
          <a:off x="2796540" y="2714625"/>
          <a:ext cx="2232025" cy="1600835"/>
        </p:xfrm>
        <a:graphic>
          <a:graphicData uri="http://schemas.openxmlformats.org/drawingml/2006/table">
            <a:tbl>
              <a:tblPr/>
              <a:tblGrid>
                <a:gridCol w="52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0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3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2440">
                <a:tc>
                  <a:txBody>
                    <a:bodyPr/>
                    <a:lstStyle/>
                    <a:p>
                      <a:pPr algn="ctr" fontAlgn="b"/>
                      <a:r>
                        <a:rPr sz="1100" b="1">
                          <a:latin typeface="Arial" panose="020B0604020202020204"/>
                          <a:ea typeface="Arial" panose="020B0604020202020204"/>
                        </a:rPr>
                        <a:t>Cost M</a:t>
                      </a:r>
                      <a:r>
                        <a:rPr lang="en-US" sz="1100" b="1">
                          <a:latin typeface="Arial" panose="020B0604020202020204"/>
                          <a:ea typeface="Arial" panose="020B0604020202020204"/>
                        </a:rPr>
                        <a:t>P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>
                          <a:latin typeface="Arial" panose="020B0604020202020204"/>
                          <a:ea typeface="Arial" panose="020B0604020202020204"/>
                        </a:rPr>
                        <a:t>W1</a:t>
                      </a:r>
                    </a:p>
                  </a:txBody>
                  <a:tcPr marL="28892" marR="28892" marT="19367" marB="19367" anchor="ctr"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>
                          <a:latin typeface="Arial" panose="020B0604020202020204"/>
                          <a:ea typeface="Arial" panose="020B0604020202020204"/>
                        </a:rPr>
                        <a:t>W2</a:t>
                      </a:r>
                    </a:p>
                  </a:txBody>
                  <a:tcPr anchor="ctr"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>
                          <a:latin typeface="Arial" panose="020B0604020202020204"/>
                          <a:ea typeface="Arial" panose="020B0604020202020204"/>
                        </a:rPr>
                        <a:t>W3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1">
                          <a:latin typeface="Arial" panose="020B0604020202020204"/>
                          <a:ea typeface="Arial" panose="020B0604020202020204"/>
                        </a:rPr>
                        <a:t>W4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WWTP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2.8jt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2.8jt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2.8jt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UTY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0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55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WRH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280rb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11 jt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>
                          <a:latin typeface="Arial" panose="020B0604020202020204"/>
                          <a:ea typeface="Arial" panose="020B0604020202020204"/>
                        </a:rPr>
                        <a:t>11 jt</a:t>
                      </a: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100"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28892" marR="28892" marT="19367" marB="19367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9" name="Table 38"/>
          <p:cNvGraphicFramePr/>
          <p:nvPr>
            <p:custDataLst>
              <p:tags r:id="rId5"/>
            </p:custDataLst>
          </p:nvPr>
        </p:nvGraphicFramePr>
        <p:xfrm>
          <a:off x="107950" y="4681220"/>
          <a:ext cx="4570730" cy="802640"/>
        </p:xfrm>
        <a:graphic>
          <a:graphicData uri="http://schemas.openxmlformats.org/drawingml/2006/table">
            <a:tbl>
              <a:tblPr/>
              <a:tblGrid>
                <a:gridCol w="333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8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9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93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0660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TOP COST PART TERTINGGI</a:t>
                      </a:r>
                    </a:p>
                  </a:txBody>
                  <a:tcPr marL="28892" marR="28892" marT="19367" marB="19367" anchor="b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19367" marB="19367" anchor="b">
                    <a:lnL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28892" marR="28892" marT="19367" marB="19367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Qty</a:t>
                      </a:r>
                    </a:p>
                  </a:txBody>
                  <a:tcPr marL="28892" marR="28892" marT="19367" marB="19367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1</a:t>
                      </a:r>
                    </a:p>
                  </a:txBody>
                  <a:tcPr marL="28892" marR="28892" marT="19367" marB="19367" anchor="b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en-US" sz="90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sym typeface="+mn-ea"/>
                        </a:rPr>
                        <a:t>DURREX MECHANICAL SEAL 65TLS10-15C</a:t>
                      </a:r>
                      <a:endParaRPr lang="en-US" altLang="en-US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9842" marR="9842" marT="9842" marB="0" anchor="b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Rp. 11.145.770</a:t>
                      </a:r>
                    </a:p>
                  </a:txBody>
                  <a:tcPr marL="9842" marR="9842" marT="9842" marB="0" anchor="b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en-US" sz="90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28892" marR="28892" marT="19367" marB="19367" anchor="b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>
                          <a:latin typeface="Calibri" panose="020F0502020204030204" charset="0"/>
                          <a:ea typeface="Arial" panose="020B0604020202020204"/>
                          <a:cs typeface="Calibri" panose="020F0502020204030204" charset="0"/>
                        </a:rPr>
                        <a:t>2</a:t>
                      </a:r>
                    </a:p>
                  </a:txBody>
                  <a:tcPr marL="28892" marR="28892" marT="19367" marB="19367" anchor="b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IMPELLER KENFLO CI TYPE XA-40/32</a:t>
                      </a:r>
                    </a:p>
                  </a:txBody>
                  <a:tcPr marL="9842" marR="9842" marT="9842" marB="0" anchor="b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Rp. 2.750.000</a:t>
                      </a:r>
                    </a:p>
                  </a:txBody>
                  <a:tcPr marL="9842" marR="9842" marT="9842" marB="0" anchor="b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en-US" sz="900">
                          <a:latin typeface="Arial" panose="020B0604020202020204" pitchFamily="34" charset="0"/>
                          <a:ea typeface="Arial" panose="020B0604020202020204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28892" marR="28892" marT="19367" marB="19367" anchor="b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0" name="Straight Arrow Connector 19"/>
          <p:cNvCxnSpPr/>
          <p:nvPr/>
        </p:nvCxnSpPr>
        <p:spPr>
          <a:xfrm flipV="1">
            <a:off x="2807335" y="6183630"/>
            <a:ext cx="1047750" cy="14668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Text Box 22"/>
          <p:cNvSpPr txBox="1"/>
          <p:nvPr/>
        </p:nvSpPr>
        <p:spPr>
          <a:xfrm>
            <a:off x="3824605" y="5927090"/>
            <a:ext cx="131762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Pompa TF Glukosa (</a:t>
            </a:r>
            <a:r>
              <a:rPr lang="en-US" sz="900" b="1">
                <a:latin typeface="Arial" panose="020B0604020202020204" pitchFamily="34" charset="0"/>
                <a:cs typeface="Arial" panose="020B0604020202020204" pitchFamily="34" charset="0"/>
              </a:rPr>
              <a:t>proses repair vendor</a:t>
            </a:r>
            <a:r>
              <a:rPr lang="en-US" sz="9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6" name="Title 23"/>
          <p:cNvSpPr>
            <a:spLocks noGrp="1"/>
          </p:cNvSpPr>
          <p:nvPr/>
        </p:nvSpPr>
        <p:spPr>
          <a:xfrm>
            <a:off x="-14605" y="137160"/>
            <a:ext cx="9144000" cy="328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Performance Maintenance ( 12 - 18 Okt 2026)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24695" y="2744470"/>
            <a:ext cx="853440" cy="108775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23220" y="2744470"/>
            <a:ext cx="1458595" cy="108775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34855" y="1511300"/>
            <a:ext cx="1042035" cy="114363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764520" y="1522095"/>
            <a:ext cx="1115060" cy="1125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 PT.BAS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3335" y="466090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14" name="Slide Number Placeholder 5"/>
          <p:cNvSpPr txBox="1"/>
          <p:nvPr/>
        </p:nvSpPr>
        <p:spPr>
          <a:xfrm>
            <a:off x="10033301" y="6584094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16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21" name="Flowchart: Terminator 20"/>
          <p:cNvSpPr/>
          <p:nvPr/>
        </p:nvSpPr>
        <p:spPr>
          <a:xfrm>
            <a:off x="3058160" y="513715"/>
            <a:ext cx="6089650" cy="302895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Setting Spoket Chaingrate R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52400" y="864235"/>
            <a:ext cx="6096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/>
              <a:t>Tanggal 18 Oktober 2026</a:t>
            </a:r>
            <a:br>
              <a:rPr lang="en-US" altLang="en-US"/>
            </a:br>
            <a:r>
              <a:rPr lang="en-US" altLang="en-US" b="1"/>
              <a:t>Issue</a:t>
            </a:r>
            <a:r>
              <a:rPr lang="en-US" altLang="en-US"/>
              <a:t> : Sisi kanan Chaingrate R sering ngangkat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9470" y="2262505"/>
            <a:ext cx="3743960" cy="210756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703070" y="1645920"/>
            <a:ext cx="46101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/>
              <a:t>Kondisi Marking masih sesuai tidak ada pergeseran</a:t>
            </a:r>
          </a:p>
        </p:txBody>
      </p:sp>
      <p:sp>
        <p:nvSpPr>
          <p:cNvPr id="28" name="Rectangles 27"/>
          <p:cNvSpPr/>
          <p:nvPr/>
        </p:nvSpPr>
        <p:spPr>
          <a:xfrm>
            <a:off x="1960245" y="1649730"/>
            <a:ext cx="4053840" cy="298259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4440" y="2112010"/>
            <a:ext cx="1327150" cy="24098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1590" y="2089785"/>
            <a:ext cx="1394460" cy="24295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rcRect l="29862"/>
          <a:stretch>
            <a:fillRect/>
          </a:stretch>
        </p:blipFill>
        <p:spPr>
          <a:xfrm rot="16200000">
            <a:off x="8540115" y="2540635"/>
            <a:ext cx="2416175" cy="1550670"/>
          </a:xfrm>
          <a:prstGeom prst="rect">
            <a:avLst/>
          </a:prstGeom>
        </p:spPr>
      </p:pic>
      <p:sp>
        <p:nvSpPr>
          <p:cNvPr id="15" name="Text Box 14"/>
          <p:cNvSpPr txBox="1"/>
          <p:nvPr/>
        </p:nvSpPr>
        <p:spPr>
          <a:xfrm>
            <a:off x="5661660" y="1696720"/>
            <a:ext cx="52019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/>
              <a:t>Kondisi Sproket Sudah Mulai Aus</a:t>
            </a:r>
          </a:p>
        </p:txBody>
      </p:sp>
      <p:sp>
        <p:nvSpPr>
          <p:cNvPr id="16" name="Rectangles 15"/>
          <p:cNvSpPr/>
          <p:nvPr/>
        </p:nvSpPr>
        <p:spPr>
          <a:xfrm>
            <a:off x="6141085" y="1649730"/>
            <a:ext cx="4574540" cy="2982595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370" y="4791710"/>
            <a:ext cx="3245485" cy="1834515"/>
          </a:xfrm>
          <a:prstGeom prst="rect">
            <a:avLst/>
          </a:prstGeom>
        </p:spPr>
      </p:pic>
      <p:sp>
        <p:nvSpPr>
          <p:cNvPr id="18" name="Rectangles 17"/>
          <p:cNvSpPr/>
          <p:nvPr/>
        </p:nvSpPr>
        <p:spPr>
          <a:xfrm>
            <a:off x="704215" y="4726305"/>
            <a:ext cx="10988040" cy="1971040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Box 18"/>
          <p:cNvSpPr txBox="1"/>
          <p:nvPr/>
        </p:nvSpPr>
        <p:spPr>
          <a:xfrm>
            <a:off x="5525770" y="4786630"/>
            <a:ext cx="6033770" cy="1800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/>
            <a:r>
              <a:rPr lang="en-US" altLang="en-US"/>
              <a:t>Terdapat </a:t>
            </a:r>
            <a:r>
              <a:rPr lang="en-US" altLang="en-US" b="1"/>
              <a:t>temuan</a:t>
            </a:r>
            <a:r>
              <a:rPr lang="en-US" altLang="en-US"/>
              <a:t> </a:t>
            </a:r>
            <a:r>
              <a:rPr lang="en-US" altLang="en-US" b="1"/>
              <a:t>sproket</a:t>
            </a:r>
            <a:r>
              <a:rPr lang="en-US" altLang="en-US"/>
              <a:t> </a:t>
            </a:r>
            <a:r>
              <a:rPr lang="en-US" altLang="en-US" b="1"/>
              <a:t>kendor</a:t>
            </a:r>
            <a:r>
              <a:rPr lang="en-US" altLang="en-US"/>
              <a:t> di </a:t>
            </a:r>
            <a:r>
              <a:rPr lang="en-US" altLang="en-US" b="1"/>
              <a:t>3 titik</a:t>
            </a:r>
            <a:r>
              <a:rPr lang="en-US" altLang="en-US"/>
              <a:t> dari sebelah kanan.</a:t>
            </a:r>
          </a:p>
          <a:p>
            <a:pPr algn="l"/>
            <a:r>
              <a:rPr lang="en-US" altLang="en-US"/>
              <a:t>Dilakukan </a:t>
            </a:r>
            <a:r>
              <a:rPr lang="en-US" altLang="en-US" b="1"/>
              <a:t>tightening</a:t>
            </a:r>
            <a:r>
              <a:rPr lang="en-US" altLang="en-US"/>
              <a:t> pada </a:t>
            </a:r>
            <a:r>
              <a:rPr lang="en-US" altLang="en-US" b="1"/>
              <a:t>kuncian sproket</a:t>
            </a:r>
            <a:r>
              <a:rPr lang="en-US" altLang="en-US"/>
              <a:t> dan menambahkan </a:t>
            </a:r>
            <a:r>
              <a:rPr lang="en-US" altLang="en-US" b="1"/>
              <a:t>locktite</a:t>
            </a:r>
            <a:r>
              <a:rPr lang="en-US" altLang="en-US"/>
              <a:t> untuk memperkuat kuncian.</a:t>
            </a:r>
          </a:p>
          <a:p>
            <a:pPr algn="l"/>
            <a:r>
              <a:rPr lang="en-US" altLang="en-US"/>
              <a:t>Dilakukan </a:t>
            </a:r>
            <a:r>
              <a:rPr lang="en-US" altLang="en-US" b="1"/>
              <a:t>trial 1 putaran</a:t>
            </a:r>
            <a:r>
              <a:rPr lang="en-US" altLang="en-US"/>
              <a:t> chaingrate dengan hasil </a:t>
            </a:r>
            <a:r>
              <a:rPr lang="en-US" altLang="en-US" b="1"/>
              <a:t>aman</a:t>
            </a:r>
            <a:r>
              <a:rPr lang="en-US" altLang="en-US"/>
              <a:t>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0" y="4796155"/>
            <a:ext cx="1306830" cy="1826260"/>
          </a:xfrm>
          <a:prstGeom prst="rect">
            <a:avLst/>
          </a:prstGeom>
        </p:spPr>
      </p:pic>
      <p:sp>
        <p:nvSpPr>
          <p:cNvPr id="22" name="Title 23"/>
          <p:cNvSpPr>
            <a:spLocks noGrp="1"/>
          </p:cNvSpPr>
          <p:nvPr/>
        </p:nvSpPr>
        <p:spPr>
          <a:xfrm>
            <a:off x="-14605" y="137160"/>
            <a:ext cx="9144000" cy="328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Performance Maintenance ( 12 - 18 Okt 2026)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 PT.BAS.png"/>
          <p:cNvPicPr>
            <a:picLocks noChangeAspect="1"/>
          </p:cNvPicPr>
          <p:nvPr/>
        </p:nvPicPr>
        <p:blipFill>
          <a:blip r:embed="rId5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13335" y="466090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14" name="Slide Number Placeholder 5"/>
          <p:cNvSpPr txBox="1"/>
          <p:nvPr/>
        </p:nvSpPr>
        <p:spPr>
          <a:xfrm>
            <a:off x="10033301" y="6584094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17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95" name="Flowchart: Terminator 94"/>
          <p:cNvSpPr/>
          <p:nvPr/>
        </p:nvSpPr>
        <p:spPr>
          <a:xfrm>
            <a:off x="321310" y="612140"/>
            <a:ext cx="4615815" cy="267970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Realisasi Agenda Sipil/AC </a:t>
            </a:r>
          </a:p>
        </p:txBody>
      </p:sp>
      <p:cxnSp>
        <p:nvCxnSpPr>
          <p:cNvPr id="22" name="Straight Connector 21"/>
          <p:cNvCxnSpPr/>
          <p:nvPr/>
        </p:nvCxnSpPr>
        <p:spPr>
          <a:xfrm flipH="1">
            <a:off x="5069840" y="466090"/>
            <a:ext cx="7620" cy="632841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/>
          <p:nvPr>
            <p:custDataLst>
              <p:tags r:id="rId1"/>
            </p:custDataLst>
          </p:nvPr>
        </p:nvGraphicFramePr>
        <p:xfrm>
          <a:off x="710565" y="4930775"/>
          <a:ext cx="3487420" cy="1807845"/>
        </p:xfrm>
        <a:graphic>
          <a:graphicData uri="http://schemas.openxmlformats.org/drawingml/2006/table">
            <a:tbl>
              <a:tblPr/>
              <a:tblGrid>
                <a:gridCol w="95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 grid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chemeClr val="bg1"/>
                          </a:solidFill>
                          <a:latin typeface="Calibri" panose="020F0502020204030204" charset="-122"/>
                        </a:rPr>
                        <a:t>REFRIGASI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215">
                <a:tc gridSpan="4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BREAKDOWN / JUMLAH UNIT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DEPARTEMENT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AC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DEPARTEMENT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AC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ENG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charset="-122"/>
                        </a:rPr>
                        <a:t>0/12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PRD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0/19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EXP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0/4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QC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charset="-122"/>
                        </a:rPr>
                        <a:t>0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/20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37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HRGA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0/33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WRH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0/9</a:t>
                      </a: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/>
          <p:nvPr>
            <p:custDataLst>
              <p:tags r:id="rId2"/>
            </p:custDataLst>
          </p:nvPr>
        </p:nvGraphicFramePr>
        <p:xfrm>
          <a:off x="597535" y="3114675"/>
          <a:ext cx="3712845" cy="1757045"/>
        </p:xfrm>
        <a:graphic>
          <a:graphicData uri="http://schemas.openxmlformats.org/drawingml/2006/table">
            <a:tbl>
              <a:tblPr/>
              <a:tblGrid>
                <a:gridCol w="49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8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Area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Jumlah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MTC AC HRGA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MTC AC ENG</a:t>
                      </a:r>
                      <a:endParaRPr lang="en-US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MTC AC QC</a:t>
                      </a:r>
                      <a:endParaRPr lang="en-US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MTC AC PRD</a:t>
                      </a:r>
                      <a:endParaRPr lang="en-US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25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5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MTC AC WRH</a:t>
                      </a:r>
                      <a:endParaRPr lang="en-US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Persentase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100%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Flowchart: Terminator 20"/>
          <p:cNvSpPr/>
          <p:nvPr/>
        </p:nvSpPr>
        <p:spPr>
          <a:xfrm>
            <a:off x="6181725" y="602615"/>
            <a:ext cx="5267960" cy="302895"/>
          </a:xfrm>
          <a:prstGeom prst="flowChartTerminator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Temuan PM dan CM Sipil/AC </a:t>
            </a:r>
          </a:p>
        </p:txBody>
      </p:sp>
      <p:graphicFrame>
        <p:nvGraphicFramePr>
          <p:cNvPr id="33" name="Chart 32"/>
          <p:cNvGraphicFramePr/>
          <p:nvPr/>
        </p:nvGraphicFramePr>
        <p:xfrm>
          <a:off x="179070" y="946150"/>
          <a:ext cx="2390775" cy="21240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" name="Table 1"/>
          <p:cNvGraphicFramePr/>
          <p:nvPr/>
        </p:nvGraphicFramePr>
        <p:xfrm>
          <a:off x="5389880" y="880110"/>
          <a:ext cx="6508750" cy="5740400"/>
        </p:xfrm>
        <a:graphic>
          <a:graphicData uri="http://schemas.openxmlformats.org/drawingml/2006/table">
            <a:tbl>
              <a:tblPr/>
              <a:tblGrid>
                <a:gridCol w="53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1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2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8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304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5900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Preventive Maintenance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Tanggal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Unit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Temuan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Corrective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Dokumentasi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06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 Okt 2026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AC kantin Staff 1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Kompressor rusak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Penggantian Kompressor baru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06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 Okt 2026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AC kantin Staff 2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Evaporator Kotor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Cuci Turun Evaporator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06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18 Okt 2026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AC Panel Separator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Evaporator Bocor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Perbaikan Evaporator 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9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6690"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Corrective Maintenance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669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Tanggal </a:t>
                      </a:r>
                    </a:p>
                  </a:txBody>
                  <a:tcPr marL="9842" marR="9842" marT="9842" marB="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Unit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Temuan 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Corrective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MTTR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Dokumentasi</a:t>
                      </a:r>
                    </a:p>
                  </a:txBody>
                  <a:tcPr marL="9842" marR="9842" marT="9842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832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-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25" name="Chart 24"/>
          <p:cNvGraphicFramePr/>
          <p:nvPr/>
        </p:nvGraphicFramePr>
        <p:xfrm>
          <a:off x="2672715" y="958850"/>
          <a:ext cx="2340610" cy="2111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6" name="Title 23"/>
          <p:cNvSpPr>
            <a:spLocks noGrp="1"/>
          </p:cNvSpPr>
          <p:nvPr/>
        </p:nvSpPr>
        <p:spPr>
          <a:xfrm>
            <a:off x="-14605" y="137160"/>
            <a:ext cx="9144000" cy="3289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Performance Maintenance ( 12 - 18 Okt 2026)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93555" y="1362710"/>
            <a:ext cx="971550" cy="12414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92105" y="1362710"/>
            <a:ext cx="1224915" cy="12414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12755" y="4079240"/>
            <a:ext cx="1260475" cy="12319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2"/>
          <a:srcRect l="-19138"/>
          <a:stretch>
            <a:fillRect/>
          </a:stretch>
        </p:blipFill>
        <p:spPr>
          <a:xfrm>
            <a:off x="9070975" y="4079240"/>
            <a:ext cx="1510030" cy="12319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76410" y="2710180"/>
            <a:ext cx="1160145" cy="125603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47680" y="2715260"/>
            <a:ext cx="1071245" cy="12452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185" y="74295"/>
            <a:ext cx="9144000" cy="328930"/>
          </a:xfrm>
        </p:spPr>
        <p:txBody>
          <a:bodyPr/>
          <a:lstStyle/>
          <a:p>
            <a:pPr algn="l"/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Cost Operasional Engineering Utility &amp; Project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-635" y="478155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10" name="Slide Number Placeholder 5"/>
          <p:cNvSpPr txBox="1"/>
          <p:nvPr/>
        </p:nvSpPr>
        <p:spPr>
          <a:xfrm>
            <a:off x="10016156" y="6494559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18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6250940" y="4310380"/>
            <a:ext cx="5826760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b="1"/>
              <a:t>Top 5 Cost Maintenance</a:t>
            </a:r>
          </a:p>
        </p:txBody>
      </p:sp>
      <p:graphicFrame>
        <p:nvGraphicFramePr>
          <p:cNvPr id="18" name="Table 17"/>
          <p:cNvGraphicFramePr/>
          <p:nvPr>
            <p:custDataLst>
              <p:tags r:id="rId1"/>
            </p:custDataLst>
          </p:nvPr>
        </p:nvGraphicFramePr>
        <p:xfrm>
          <a:off x="6236335" y="4671060"/>
          <a:ext cx="5841365" cy="1948815"/>
        </p:xfrm>
        <a:graphic>
          <a:graphicData uri="http://schemas.openxmlformats.org/drawingml/2006/table">
            <a:tbl>
              <a:tblPr/>
              <a:tblGrid>
                <a:gridCol w="724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8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81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41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Material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Material Description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Qty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UoM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 Harga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60038635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OIL ROTO SYN FG ULTRA 20L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KLG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Rp19,175,231 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60038680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ATCO KIT OIL SPARATOR PN2901162600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PCS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Rp14,331,200 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60045291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Filter AHU 520x365x8MM York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PCS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Rp13,200,000 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60042796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ATLASCOPCO AIR/OIL FLTR KIT PN3002600440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PCS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Rp6,684,360 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60015525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RESIN BENING FIBERGLASS TYPE LP1Q EX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36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KG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Rp4,320,000 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Box 19"/>
          <p:cNvSpPr txBox="1"/>
          <p:nvPr/>
        </p:nvSpPr>
        <p:spPr>
          <a:xfrm>
            <a:off x="6191885" y="1972945"/>
            <a:ext cx="5885815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 b="1">
                <a:sym typeface="+mn-ea"/>
              </a:rPr>
              <a:t>Top 10 Cost Consumable</a:t>
            </a:r>
            <a:endParaRPr lang="en-US" sz="1400" b="1"/>
          </a:p>
        </p:txBody>
      </p:sp>
      <p:graphicFrame>
        <p:nvGraphicFramePr>
          <p:cNvPr id="19" name="Table 18"/>
          <p:cNvGraphicFramePr/>
          <p:nvPr>
            <p:custDataLst>
              <p:tags r:id="rId2"/>
            </p:custDataLst>
          </p:nvPr>
        </p:nvGraphicFramePr>
        <p:xfrm>
          <a:off x="6191885" y="2332990"/>
          <a:ext cx="5841365" cy="1948815"/>
        </p:xfrm>
        <a:graphic>
          <a:graphicData uri="http://schemas.openxmlformats.org/drawingml/2006/table">
            <a:tbl>
              <a:tblPr/>
              <a:tblGrid>
                <a:gridCol w="73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82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1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8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Material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Material Description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Qty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UoM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Total Harga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80000015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NAOH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7162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KG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Rp29,901,350 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80002100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DENFLOC 945 PC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KG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Rp9,300,000 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60038002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PAC POWDER @25KG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1000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KG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Rp6,900,000 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60010622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PRETREAT PLUS 0100 CONC.100%KINGLEE USA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KG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Rp6,500,520 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20000156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GARAM HALUS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1000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KG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Rp3,000,000 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80001803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ASAM SULFAT (H2SO4) 98% MERCK @2,5LTR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BT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Rp2,680,000 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60009005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PAY OFF CWT B4 @ 30 LITER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KLG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Rp1,785,000 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60011728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PAY OFF BWT SCF @ 30 LITER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KLG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Rp1,636,800 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60011727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PAY OFF BWT SRTF @ 30 LITER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KLG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Rp1,578,000 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80003400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CHEMTECH ALKEM C-9040 FLOCULANT @25KG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ZAK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9BC2E6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Rp1,550,000 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/>
          <p:nvPr>
            <p:custDataLst>
              <p:tags r:id="rId3"/>
            </p:custDataLst>
          </p:nvPr>
        </p:nvGraphicFramePr>
        <p:xfrm>
          <a:off x="6182360" y="1136015"/>
          <a:ext cx="5861685" cy="813435"/>
        </p:xfrm>
        <a:graphic>
          <a:graphicData uri="http://schemas.openxmlformats.org/drawingml/2006/table">
            <a:tbl>
              <a:tblPr/>
              <a:tblGrid>
                <a:gridCol w="2198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4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3365">
                <a:tc>
                  <a:txBody>
                    <a:bodyPr/>
                    <a:lstStyle/>
                    <a:p>
                      <a:pPr algn="ctr" font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 Black" panose="020B0A04020102020204" charset="0"/>
                          <a:ea typeface="Calibri" panose="020F0502020204030204"/>
                          <a:cs typeface="Arial Black" panose="020B0A04020102020204" charset="0"/>
                        </a:rPr>
                        <a:t>TOTAL COST 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111,967,153 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Consumable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 rowSpan="2">
                  <a:txBody>
                    <a:bodyPr/>
                    <a:lstStyle/>
                    <a:p>
                      <a:pPr algn="ctr" fontAlgn="ctr"/>
                      <a:r>
                        <a:rPr sz="30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 155,223,395 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5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 43,256,242 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Maintenance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9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2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Service Maintenance</a:t>
                      </a: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6148070" y="563245"/>
            <a:ext cx="58959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fontAlgn="ctr"/>
            <a:r>
              <a:rPr sz="1600" b="1">
                <a:solidFill>
                  <a:srgbClr val="008080"/>
                </a:solidFill>
                <a:latin typeface="Calibri" panose="020F0502020204030204"/>
                <a:ea typeface="Calibri" panose="020F0502020204030204"/>
                <a:sym typeface="+mn-ea"/>
              </a:rPr>
              <a:t>Data Reservasi Bulanan Engineering Utility</a:t>
            </a:r>
            <a:r>
              <a:rPr lang="en-US" sz="1600" b="1">
                <a:solidFill>
                  <a:srgbClr val="008080"/>
                </a:solidFill>
                <a:latin typeface="Calibri" panose="020F0502020204030204"/>
                <a:ea typeface="Calibri" panose="020F0502020204030204"/>
                <a:sym typeface="+mn-ea"/>
              </a:rPr>
              <a:t> &amp; Project</a:t>
            </a:r>
            <a:endParaRPr sz="1600" b="1">
              <a:solidFill>
                <a:srgbClr val="008080"/>
              </a:solidFill>
              <a:latin typeface="Calibri" panose="020F0502020204030204"/>
              <a:ea typeface="Calibri" panose="020F0502020204030204"/>
              <a:sym typeface="+mn-ea"/>
            </a:endParaRPr>
          </a:p>
          <a:p>
            <a:pPr algn="l" fontAlgn="ctr"/>
            <a:r>
              <a:rPr lang="en-US" sz="1600" b="1">
                <a:solidFill>
                  <a:srgbClr val="008080"/>
                </a:solidFill>
                <a:latin typeface="Calibri" panose="020F0502020204030204"/>
                <a:ea typeface="Calibri" panose="020F0502020204030204"/>
                <a:sym typeface="+mn-ea"/>
              </a:rPr>
              <a:t>01 - 20 Oktober 2026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073775" y="555625"/>
            <a:ext cx="0" cy="6080125"/>
          </a:xfrm>
          <a:prstGeom prst="line">
            <a:avLst/>
          </a:prstGeom>
          <a:ln>
            <a:solidFill>
              <a:srgbClr val="741B47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3" name="Chart 2"/>
          <p:cNvGraphicFramePr/>
          <p:nvPr/>
        </p:nvGraphicFramePr>
        <p:xfrm>
          <a:off x="83185" y="553085"/>
          <a:ext cx="5916295" cy="6071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185" y="74295"/>
            <a:ext cx="9144000" cy="328930"/>
          </a:xfrm>
        </p:spPr>
        <p:txBody>
          <a:bodyPr/>
          <a:lstStyle/>
          <a:p>
            <a:pPr algn="l"/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Summary Project ENG Utility per</a:t>
            </a:r>
            <a:r>
              <a:rPr lang="en-US" altLang="en-US" sz="1600" b="1" dirty="0">
                <a:solidFill>
                  <a:srgbClr val="C00000"/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 21 Oktober 2026</a:t>
            </a:r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3335" y="466090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6" name="Slide Number Placeholder 5"/>
          <p:cNvSpPr txBox="1"/>
          <p:nvPr/>
        </p:nvSpPr>
        <p:spPr>
          <a:xfrm>
            <a:off x="10033301" y="6494559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19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64845"/>
            <a:ext cx="12192000" cy="55283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185" y="74295"/>
            <a:ext cx="9144000" cy="328930"/>
          </a:xfrm>
        </p:spPr>
        <p:txBody>
          <a:bodyPr/>
          <a:lstStyle/>
          <a:p>
            <a:pPr algn="l"/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Summary Project ENG Utility (Boiler)</a:t>
            </a:r>
            <a:endParaRPr lang="en-US" altLang="en-US" sz="1600" b="1" dirty="0">
              <a:solidFill>
                <a:schemeClr val="accent6"/>
              </a:solidFill>
              <a:latin typeface="Arial" panose="020B0604020202020204" pitchFamily="34" charset="0"/>
              <a:cs typeface="Century Gothic" panose="020B0502020202020204"/>
              <a:sym typeface="+mn-ea"/>
            </a:endParaRPr>
          </a:p>
        </p:txBody>
      </p:sp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3335" y="466090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/>
        </p:nvSpPr>
        <p:spPr>
          <a:xfrm>
            <a:off x="10033301" y="6494559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20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graphicFrame>
        <p:nvGraphicFramePr>
          <p:cNvPr id="5" name="Table 4"/>
          <p:cNvGraphicFramePr/>
          <p:nvPr/>
        </p:nvGraphicFramePr>
        <p:xfrm>
          <a:off x="170180" y="581025"/>
          <a:ext cx="11808460" cy="606615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43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0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2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37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4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8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9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422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12725"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No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Project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Target Result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Kategori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Start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Finish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(%)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Status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Note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1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Penggantian FM Steam Boiler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Untuk digitalisasi penggunaan steam boiler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KPI BB dan Steam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W1 Mar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W2 Juli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10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Proses PR Material No. 5000033940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75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2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Penambahan Zat Addictive BB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Menurunkan Unburnt carbon BB dari 1500 ke &lt; 1000</a:t>
                      </a:r>
                      <a:br>
                        <a:rPr sz="1200"/>
                      </a:br>
                      <a:r>
                        <a:rPr sz="1200"/>
                        <a:t>Saving cost: 6 ton/week Rp. 10.500.000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KPI BB dan Steam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W2 Mei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W2 Juli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10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Negosiasi Biaya Trial dengan pihak vendor (request free biaya untuk trial)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39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3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Pemasangan Heater HW 10 Ton (For startup Retail)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Effisiensi penggunaan batubara dan overtime MP boiler</a:t>
                      </a:r>
                      <a:br>
                        <a:rPr sz="1200"/>
                      </a:br>
                      <a:r>
                        <a:rPr sz="1200"/>
                        <a:t>Cost saving:</a:t>
                      </a:r>
                      <a:br>
                        <a:rPr sz="1200"/>
                      </a:br>
                      <a:r>
                        <a:rPr sz="1200"/>
                        <a:t>BB: 2.6 ton/day Rp.4,550,000</a:t>
                      </a:r>
                      <a:br>
                        <a:rPr sz="1200"/>
                      </a:br>
                      <a:r>
                        <a:rPr sz="1200"/>
                        <a:t>MP: Reduce overtime 2x8 jam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KPI BB dan Steam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W4 Mei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W2 Agustus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Menunggu hasil deisgn vendor heater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104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4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Perbaikan Plat Furnace Boiler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Untuk Spare Furnace boiler dan menurunkan cost operasional pembelian furnace baru dengan repair yang lama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Maintenance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W2 Juni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W3 Juli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40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Penggantian Plat Done &gt; Plat tersimpan di area boiler &gt; Ajukan Cor Furnace (PR Jasa  5000034405 )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213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Pemasangan Temperatur Transmitter Flue Gas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Indikator Performa pembakaran dan efisiensi Boiler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Maintenance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W1 Sept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W4 Sept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10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agenda 25 okt 2026 (arbi)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Air overflow HW glukosa to tanki kondensat glukosa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Mengurangi pemakaian air dan meningkatkan angka kondensat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KPI BB dan Steam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W1 Sept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W2 Okt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PR material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/>
                        <a:t>7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Pemasangan sight glass Pasteur line 2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Untuk monitoring performa steam trap dan kondensat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KPI BB dan Steam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W3 Sept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W4 Des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On Progress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PR material 5000034295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/>
                        <a:t>8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Pemasangan sight glass area dissolver &amp; olah sari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Untuk monitoring performa steam trap dan kondensat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KPI BB dan Steam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W3 Sept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W4 Des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3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On Progress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Naik MID Baru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/>
                        <a:t>9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Penggantian Belt Conveyor Bottom Ash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Untuk Maintenance Conveyor bottom yg sudah tipis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Maintenance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W1 Okt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W3 Okt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PR Urgent material Belt 5000034631 (Sementara Menggunakan belt lama/bekas)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75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/>
                        <a:t>10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Penggantian Guillotine 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Maintenance lifetime guillotine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Maintenance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W2 Okt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W3 Okt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Agenda pada 25/10/2026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327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/>
                        <a:t>11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Coblos jalur FM boiler untuk verifikasi dengan kempu dan timbang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verfikasi hasil KPI Steam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KPI Steam/FG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W3 OKT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W4 OKT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On Progress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/>
                        <a:t>Agenda pada 25/10/2026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185" y="74295"/>
            <a:ext cx="9144000" cy="328930"/>
          </a:xfrm>
        </p:spPr>
        <p:txBody>
          <a:bodyPr/>
          <a:lstStyle/>
          <a:p>
            <a:pPr algn="l"/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Summary Project ENG Utility (Utility)</a:t>
            </a:r>
            <a:endParaRPr lang="en-US" altLang="en-US" sz="1600" b="1" dirty="0">
              <a:solidFill>
                <a:schemeClr val="accent6"/>
              </a:solidFill>
              <a:latin typeface="Arial" panose="020B0604020202020204" pitchFamily="34" charset="0"/>
              <a:cs typeface="Century Gothic" panose="020B0502020202020204"/>
              <a:sym typeface="+mn-ea"/>
            </a:endParaRPr>
          </a:p>
        </p:txBody>
      </p:sp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3335" y="466090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10" name="Slide Number Placeholder 5"/>
          <p:cNvSpPr txBox="1"/>
          <p:nvPr/>
        </p:nvSpPr>
        <p:spPr>
          <a:xfrm>
            <a:off x="10033301" y="6494559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21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sp>
        <p:nvSpPr>
          <p:cNvPr id="5" name="Slide Number Placeholder 5"/>
          <p:cNvSpPr txBox="1"/>
          <p:nvPr/>
        </p:nvSpPr>
        <p:spPr>
          <a:xfrm>
            <a:off x="10053621" y="6530119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21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170180" y="548640"/>
          <a:ext cx="11808460" cy="602297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43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0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8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72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97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89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422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No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Project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Target Result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Kategori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Start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Finish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(%)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Status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Note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1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Air Mix RO to Handwash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Saran Temuan Audit ISO 2025</a:t>
                      </a:r>
                      <a:b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TDS max 300 ppm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Compliance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W2 Sept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okt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Cek kebutuhan Matrial</a:t>
                      </a:r>
                      <a:b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Prioritas 1 = saat off</a:t>
                      </a:r>
                      <a:b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MOC Done 11/09/26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2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Penambahan ducting cooling tower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Untuk Memaksimalkan kerja Cooling Tower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Compliance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W3 Mei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W3 Juli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EJO Drawing EJO0134413</a:t>
                      </a:r>
                      <a:b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naik MOC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3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Epoxy area RO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GMP area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Jan 27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W2 Jan 27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EJO0134635 : Material Ready Cek kebutuhan eksekusi Area</a:t>
                      </a:r>
                      <a:b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Prioritas ke 3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4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Pemasangan Dosing Pump di air RO to PRD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Untuk Standar Kualitas Air proses dengan standar kadar klorin 0,2 - 2 ppm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Compliance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W2 Jun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W4 Jun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FU material ke team Project EJO0135600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Pembuatan Pembatas Tanki Garam dan Tanki MMF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Memperpanjang part dan pipa tanki MMF akibat semburan/luapan tanki garam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GMP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W4 Sept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W4 Sept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EJO0135526 Ejo pembuatan/pengerjaan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Instalasi system digitalisasi Capasitor Bank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Untuk Monitoring Performa Capasitor Bank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Digitalisasi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W4 Jun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W2 Ags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On Progress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On Progress Tim ITE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/>
                        <a:t>7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Pemasangan Sensor Suhu Panel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Monitoring suhu tiap panel listrik utility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Digitalisasi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W3 Juli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September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Material datang sebagian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/>
                        <a:t>8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Pembuatan ducting hot air dryer Ruang Compressor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Mengurangi Ambient temperatur Ruangan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Improvement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W4 Sept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Okt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EJO pembuatan  EJO0135511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/>
                        <a:t>9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Pembuatan Ducting Fresh air area compressor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Meningkatkan performance dan lifetime compressor dan dryer utility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Improvement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W4 Sept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Okt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EJO pembuatan EJO0135320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/>
                        <a:t>10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Trial Pasang Paranet di Cooling Tower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Menurunkan beban Cooling Tower saat siang hari dan efisiensi penggunaan listrik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Maintenance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W4 Sept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W4 Sept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progress 50 %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/>
                        <a:t>11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Penggantian WF gawang pengangkat Pompa RO + Resin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Maintenance pipe bridge area RO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Maintenance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W4 Sept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W2 Okt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NO EJO0135769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/>
                        <a:t>12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Verifikasi Flow Meter semua sumur BAS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Verfikasi FM sumur bas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KPI 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Kuota 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AIR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W3 OKT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NOV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On Progress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Naik EJO Verifikasi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/>
                        <a:t>13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Pembuatan spray ball tanki pit garam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comply regulasi kuota air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KPI 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Kuota</a:t>
                      </a: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 AIR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W3 OKT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NOV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On Progress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EJO0135824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185" y="74295"/>
            <a:ext cx="9144000" cy="328930"/>
          </a:xfrm>
        </p:spPr>
        <p:txBody>
          <a:bodyPr/>
          <a:lstStyle/>
          <a:p>
            <a:pPr algn="l"/>
            <a:r>
              <a:rPr lang="en-US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Century Gothic" panose="020B0502020202020204"/>
                <a:sym typeface="+mn-ea"/>
              </a:rPr>
              <a:t>Summary Project ENG Utility (WWTP)</a:t>
            </a:r>
            <a:endParaRPr lang="en-US" altLang="en-US" sz="1600" b="1" dirty="0">
              <a:solidFill>
                <a:schemeClr val="accent6"/>
              </a:solidFill>
              <a:latin typeface="Arial" panose="020B0604020202020204" pitchFamily="34" charset="0"/>
              <a:cs typeface="Century Gothic" panose="020B0502020202020204"/>
              <a:sym typeface="+mn-ea"/>
            </a:endParaRPr>
          </a:p>
        </p:txBody>
      </p:sp>
      <p:pic>
        <p:nvPicPr>
          <p:cNvPr id="22" name="Picture 21" descr="Logo PT.BAS.pn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0428605" y="57785"/>
            <a:ext cx="1550035" cy="36449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13335" y="466090"/>
            <a:ext cx="121786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-14605" y="6786245"/>
            <a:ext cx="12206605" cy="76200"/>
          </a:xfrm>
          <a:prstGeom prst="rect">
            <a:avLst/>
          </a:prstGeom>
        </p:spPr>
      </p:pic>
      <p:sp>
        <p:nvSpPr>
          <p:cNvPr id="9" name="Slide Number Placeholder 5"/>
          <p:cNvSpPr txBox="1"/>
          <p:nvPr/>
        </p:nvSpPr>
        <p:spPr>
          <a:xfrm>
            <a:off x="10033301" y="6494559"/>
            <a:ext cx="21336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Page </a:t>
            </a:r>
            <a:fld id="{2066355A-084C-D24E-9AD2-7E4FC41EA627}" type="slidenum">
              <a:rPr lang="en-US" dirty="0" smtClean="0">
                <a:solidFill>
                  <a:srgbClr val="7F7F7F"/>
                </a:solidFill>
                <a:latin typeface="Century Gothic" panose="020B0502020202020204"/>
                <a:cs typeface="Century Gothic" panose="020B0502020202020204"/>
              </a:rPr>
              <a:t>22</a:t>
            </a:fld>
            <a:endParaRPr lang="en-US" dirty="0">
              <a:solidFill>
                <a:srgbClr val="7F7F7F"/>
              </a:solidFill>
              <a:latin typeface="Century Gothic" panose="020B0502020202020204"/>
              <a:cs typeface="Century Gothic" panose="020B0502020202020204"/>
            </a:endParaRPr>
          </a:p>
        </p:txBody>
      </p:sp>
      <p:graphicFrame>
        <p:nvGraphicFramePr>
          <p:cNvPr id="6" name="Table 5"/>
          <p:cNvGraphicFramePr/>
          <p:nvPr/>
        </p:nvGraphicFramePr>
        <p:xfrm>
          <a:off x="170180" y="558800"/>
          <a:ext cx="11808460" cy="569658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43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5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3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7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5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0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18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993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92405"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No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Project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Target Result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Kategori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Start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Finish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(%)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Status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/>
                        <a:t>Note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1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New anaerob 200 m3 step 3 (debit 1-1.5 m3/jam)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New anaerob 200 m3 diarahakan ke lumpur aktif kapasitas 160 m3 (1-1.5 m3/jam)</a:t>
                      </a:r>
                      <a:b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Target menurunkan COD removal nya 80-90%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Baku Mutu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Okt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Jan 27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21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mulai pekerjaan atap di area new anaerob step 3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2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Perbaikan Diffuser Lumpur Aktif Besar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Menaikan nilai standar DO dari 1 ppm menjadi 2.5 ppm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Baku Mutu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W3 Jun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W3 Agus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Sudah dinaikkan PR (tunggu kedatangan)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3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Reuse air pit garam untuk air top up cooling tower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mengurangi penggunaan air di area utility dengan saving kuota SB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KPI Air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Jan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W4 Agus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Chemctech akan kirim proposal nya</a:t>
                      </a:r>
                      <a:b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present MoC 11/09/2026</a:t>
                      </a:r>
                      <a:b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NOMOR PR 5000034662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96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4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Elektrokoagulan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Penambahan pengolahan di akhir proses setelah DAF</a:t>
                      </a:r>
                      <a:b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Menurunkan COD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Baku Mutu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W3 Jul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W4 Okt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On Progress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IO sedang dinaikkan team project 22/09/2026, PR material sudah dilakukan, tanki sudah di lakukan resin, pembuatan panel done, next pembuatan penahan plat</a:t>
                      </a:r>
                      <a:b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nomor IO sudah ada dan kedatangan materail di 60%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Penambahan kapasitas TPS sludge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Untuk menambah kapasitas sludge agar tidak ada lagi kempu di jalan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W2 Agus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W2 oktober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sudah PR material 07/09/2026 sudah datang 62%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/>
                        <a:t>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Perbaikan Walkway Aerasi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Untuk peremajaan struktur WWTP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Maintenance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Okt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Des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25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On Progress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mulai pekerjaan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104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/>
                        <a:t>7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Reuse air outlet WWTP untuk siram tanaman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Reuse air outlet untuk siram tanaman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KPI Air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Jan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Des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On Progress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after project elektrokoagulan dan pit garam jika memungkinkan masuk ke pengolahan pit garam akan diarahkan ke sana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/>
                        <a:t>8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Modifikasi Kerangkeng WWTP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untuk peremajaan kerangkeng dan efektifitas penempatan material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NOV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W2 NOV 26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On Progress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Sudah naikkan pr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816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/>
                        <a:t>9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Peninggian lantai dan pemasangan keramik WWTP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Area kerja berbasis 5R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5R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W1 Jan 27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W2 Apr 27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Terlambat</a:t>
                      </a:r>
                    </a:p>
                  </a:txBody>
                  <a:tcPr marL="9842" marR="9842" marT="9842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2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Naik ejo drawing EJO0135711 (sudah genba lapangan)</a:t>
                      </a:r>
                    </a:p>
                  </a:txBody>
                  <a:tcPr marL="9842" marR="9842" marT="9842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1*198"/>
  <p:tag name="TABLE_ENDDRAG_RECT" val="29*314*431*19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1*205"/>
  <p:tag name="TABLE_ENDDRAG_RECT" val="502*314*431*20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8*211"/>
  <p:tag name="TABLE_ENDDRAG_RECT" val="25*309*438*2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8*211"/>
  <p:tag name="TABLE_ENDDRAG_RECT" val="25*309*438*2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8*211"/>
  <p:tag name="TABLE_ENDDRAG_RECT" val="25*309*438*2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8*182"/>
  <p:tag name="TABLE_ENDDRAG_RECT" val="498*301*438*18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8*211"/>
  <p:tag name="TABLE_ENDDRAG_RECT" val="25*309*438*2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8*211"/>
  <p:tag name="TABLE_ENDDRAG_RECT" val="25*309*438*2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12*156"/>
  <p:tag name="TABLE_ENDDRAG_RECT" val="4*361*212*15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22*76"/>
  <p:tag name="TABLE_ENDDRAG_RECT" val="368*361*122*7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44*58"/>
  <p:tag name="TABLE_ENDDRAG_RECT" val="207*372*144*5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26*78"/>
  <p:tag name="TABLE_ENDDRAG_RECT" val="364*449*126*78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39*79"/>
  <p:tag name="TABLE_ENDDRAG_RECT" val="221*448*139*7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96*284"/>
  <p:tag name="TABLE_ENDDRAG_RECT" val="4*64*196*28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32*82"/>
  <p:tag name="TABLE_ENDDRAG_RECT" val="10*42*932*8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65*103"/>
  <p:tag name="TABLE_ENDDRAG_RECT" val="16*406*265*10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35*98"/>
  <p:tag name="TABLE_ENDDRAG_RECT" val="410*83*535*9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60*94"/>
  <p:tag name="TABLE_ENDDRAG_RECT" val="13*244*160*9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32*96"/>
  <p:tag name="TABLE_ENDDRAG_RECT" val="171*243*232*9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59*47"/>
  <p:tag name="TABLE_ENDDRAG_RECT" val="13*347*359*4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29*200"/>
  <p:tag name="TABLE_ENDDRAG_RECT" val="613*283*329*20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41*348"/>
  <p:tag name="TABLE_ENDDRAG_RECT" val="410*71*541*34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30*130"/>
  <p:tag name="TABLE_ENDDRAG_RECT" val="40*249*330*13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77*129"/>
  <p:tag name="TABLE_ENDDRAG_RECT" val="64*379*277*129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32*96"/>
  <p:tag name="TABLE_ENDDRAG_RECT" val="171*243*232*96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59*47"/>
  <p:tag name="TABLE_ENDDRAG_RECT" val="13*347*359*4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74*142"/>
  <p:tag name="TABLE_ENDDRAG_RECT" val="55*388*274*14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63*115"/>
  <p:tag name="TABLE_ENDDRAG_RECT" val="25*240*363*11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9*149"/>
  <p:tag name="TABLE_ENDDRAG_RECT" val="16*345*459*15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59*90"/>
  <p:tag name="TABLE_ENDDRAG_RECT" val="16*157*459*9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61*58"/>
  <p:tag name="TABLE_ENDDRAG_RECT" val="486*51*461*58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4797</Words>
  <Application>Microsoft Office PowerPoint</Application>
  <PresentationFormat>Widescreen</PresentationFormat>
  <Paragraphs>1791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Century Gothic</vt:lpstr>
      <vt:lpstr>Open Sans</vt:lpstr>
      <vt:lpstr>Office Theme</vt:lpstr>
      <vt:lpstr>PowerPoint Presentation</vt:lpstr>
      <vt:lpstr>Key Performance Indicator Engineering Utility</vt:lpstr>
      <vt:lpstr>Key Performance Indicator Engineering Utility</vt:lpstr>
      <vt:lpstr>Key Performance Indicator Engineering Utility</vt:lpstr>
      <vt:lpstr>Key Performance Indicator Engineering Utility</vt:lpstr>
      <vt:lpstr>Key Performance Indicator Engineering Utility</vt:lpstr>
      <vt:lpstr>KPI Engineering Utility (Confirm Acc. s.d September - 2026)</vt:lpstr>
      <vt:lpstr>Performance Engineering Utility (12 - 18 Okt 2026)</vt:lpstr>
      <vt:lpstr>PowerPoint Presentation</vt:lpstr>
      <vt:lpstr>Issue Selisih Pressure Steam Boiler VS Produksi</vt:lpstr>
      <vt:lpstr>PowerPoint Presentation</vt:lpstr>
      <vt:lpstr>KPI Engineering Utility (s.d Oktober - 2026)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Cost Operasional Engineering Utility &amp; Project</vt:lpstr>
      <vt:lpstr>Summary Project ENG Utility per 21 Oktober 2026 </vt:lpstr>
      <vt:lpstr>Summary Project ENG Utility (Boiler)</vt:lpstr>
      <vt:lpstr>Summary Project ENG Utility (Utility)</vt:lpstr>
      <vt:lpstr>Summary Project ENG Utility (WWTP)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Tohadi .</cp:lastModifiedBy>
  <cp:revision>485</cp:revision>
  <dcterms:created xsi:type="dcterms:W3CDTF">2025-08-21T04:18:00Z</dcterms:created>
  <dcterms:modified xsi:type="dcterms:W3CDTF">2026-10-23T02:54:13Z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27D438FB0B024917B5EF8E92103220BB_13</vt:lpwstr>
  </property>
  <property fmtid="{D5CDD505-2E9C-101B-9397-08002B2CF9AE}" pid="3" name="KSOProductBuildVer">
    <vt:lpwstr>1033-12.1.0.29162</vt:lpwstr>
  </property>
</Properties>
</file>